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Fase 1: modelo dimensional y proceso ETL para el caso Kent Foods. El orden es: el caso y los KPI, el modelo (Kimball y la estrella), el ETL en SSIS, la validación de la carga, el repositorio y una demo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que nos entregaron es transaccional (tipo Northwind): está normalizada para registrar ventas, no para analizarlas. Para saber cuánto vendió un empleado por categoría hay que unir DetalleOrden, Ordenes, Productos, Categorias y Empleados. El objetivo es dejar eso precalculado en un modelo estrella. La tabla de la derecha muestra las 11 tablas del origen con sus filas, de mayor a menor; DetalleOrden (2.155 líneas, destacada) es la que define el grano del hecho.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primeros (azules) son los KPI centrales: cuánto se vende, cuánto vale una orden en promedio y qué tan rápido se despacha. Los tres verdes son cortes para comparar: descuentos, empleados y categorías. Todos se calculan desde Fact_Detalle_Venta. El ticket promedio usa COUNT(DISTINCT OrdenID), por eso OrdenID se mantiene en el hecho. Los días de despacho se promedian por orden y no por línea, para que una orden con muchos productos no pese más. Las 21 órdenes sin despachar no entran a ese promedio. El % de descuento se calcula con dinero: SUM(MontoDescuento) / SUM(MontoBruto) = 6,5 %; el promedio simple de la columna Descuento daría 5,6 % y está mal, porque un 20 % sobre 10 pesaría igual que un 20 % sobre 10.000. Se usa porcentaje y no monto porque se puede comparar entre meses o categorías de distinto tamaño; el monto promedio por orden (106,83 = 88.665,83 / 830) se muestra como complemento. El 39 % de las líneas tiene algún descuento. Si preguntan por KPI que faltan: margen y atrasos no se pueden calcular porque la base no tiene costos ni fecha requerida.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El proceso que se modela son las ventas. 2) El grano es la línea de detalle: un producto dentro de una orden. Se eligió el nivel más fino porque desde ahí se puede agregar a orden, cliente, mes, etc., pero no al revés. 3) Las dimensiones responden cuándo, quién compra, qué, quién vende y quién despacha. Tiempo es una dimensión de rol: el hecho la referencia dos veces. 4) Las medidas aditivas son Cantidad y los montos. PrecioUnitario, Descuento y DiasDespacho no se deben sumar: se promedian. MontoNeto se guarda ya calculado.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hecho queda al centro y cada dimensión se une a él por una sola clave. Dim_Tiempo aparece con dos líneas porque el hecho tiene dos FK hacia ella: FechaOrdenKey y FechaEnvioKey (esta última admite NULL para las órdenes sin despachar, por eso va punteada). Las jerarquías que se ven en las cajas son las que se usarán en el cubo: Año › Trimestre › Mes › Día, Categoría › Producto y Región › Empleado. Cada dimensión además guarda su clave de negocio (ClienteID, ProductoID, etc.) con restricción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típicas de esta diapositiva. ¿Por qué claves sustitutas? Para no depender de los ID del sistema de origen y poder manejar cambios o varias fuentes. ¿Por qué estrella? Porque las jerarquías (Categoría › Producto, Región › Empleado) caben en la misma dimensión; normalizarlas en copo de nieve solo agrega joins. ¿Por qué el precio de DetalleOrden? Porque es el precio al que realmente se vendió; Productos tiene el precio actual del catálogo. La clave AAAAMMDD de Tiempo no viene del origen: se calcula desde la fecha, así que no hace falta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SSIS tiene un paquete por tabla y un Maestro que los ejecuta en orden, encadenados por restricciones de precedencia de éxito. Paso 1, Limpiar (Execute SQL): DELETE del hecho y luego de las dimensiones (TRUNCATE no se puede por las FK) y DBCC CHECKIDENT RESEED para que las claves vuelvan a partir en 1. Dimensiones: Transportista y Cliente son carga directa; Producto hace JOIN con Categorias y Proveedores en la consulta de origen; Empleado llega a la región pasando por TerritoriosEmpleados → Territorios → Regiones y usa una Derived Column para Nombre + Apellido y RTRIM(Region); Tiempo no sale del origen, la genera usp_CargarDimTiempo desde una tarea Execute SQL. El orden entre las dimensiones es libre (ninguna depende de otra); se dejaron de la más simple a la más compleja. El hecho va al final porque sus Lookups buscan las claves sustitutas en las dimensiones ya cargadas. Las conexiones Origen_KentFoods y Destino_KentFoodsDW están a nivel de proyecto. El detalle de cada paquete está en las dos diapositivas siguientes.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dimensión es un Data Flow: un OLE DB Source con una consulta SQL, una transformación si hace falta y un OLE DB Destination. La clave sustituta no viene del origen: la genera el IDENTITY de la tabla al insertar, por eso en los Mappings se deja en ignore. En Dim_Producto, Categoría y Proveedor se resuelven con JOIN en la consulta de origen (eso la deja como estrella). En Dim_Empleado la región se obtiene pasando por TerritoriosEmpleados → Territorios → Regiones con DISTINCT; se puede porque cada empleado tiene una sola región aunque tenga varios territorios. Una Derived Column arma NombreEmpleado y aplica RTRIM a la región, que viene de un nchar(50) con espacios al final. Dim_Tiempo no sale del origen: es un calendario continuo generado por un procedimiento almacenado que se llama desde una tarea Execute SQL. El orden entre dimensiones es libre: ninguna depende de otra.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Data Flow más importante. La consulta de origen une DetalleOrden con Ordenes y ya calcula los montos, los días de despacho y las claves de fecha en formato AAAAMMDD (CONVERT con estilo 112). El descuento viene como real con error de flotante (0.15 se guarda como 0.15000000596) y se convierte a DECIMAL(4,2) antes de multiplicar. Se usa el precio de DetalleOrden, no el de Productos, porque es el precio real de la venta (difieren en 658 líneas). Luego cuatro Lookups cambian cada ID del origen por la clave sustituta de su dimensión, buscando por la clave de negocio; por ejemplo, el cliente HANAR pasa a ClienteKey 34. Las fechas no necesitan Lookup porque su clave se puede calcular. Las 21 órdenes sin despachar (73 líneas) quedan con FechaEnvioKey y DiasDespacho en NULL; no se borran porque son ventas reales. Si un Lookup no encuentra coincidencia, la fila va a la salida no match, que no está conectada, y se descarta; por eso el conteo de validación (2.155 = 2.155) demuestra que no se perdió ninguna. El destino usa fast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valores esperados se sacaron consultando directamente la base KentFoods, y el script 03_validar_carga.sql los compara con lo cargado en el DW. Son 19 controles: conteos por tabla, órdenes distintas, unidades, montos bruto, descuento y neto, líneas y órdenes sin despachar (73 y 21), que FechaEnvioKey y DiasDespacho sean NULL juntos, que los montos cumplan Neto = Bruto − Descuento y Bruto = Cantidad × Precio, que no haya días negativos ni descuentos fuera de 0–1, que las regiones no tengan espacios y que las claves sustitutas partan en 1. No se revisan huérfanas porque las FK del hecho no las dejan entrar.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misma pregunta de negocio en las dos bases. En el origen hay que unir 5 tablas (DetalleOrden, Ordenes, Empleados, Productos, Categorias) y calcular el monto en cada consulta. En el DW basta el hecho y dos dimensiones: la categoría ya viene dentro de Dim_Producto (por eso es estrella) y MontoNeto está precalculado. Es el resultado del proyecto: el modelo responde las preguntas de negocio con consultas simples. Para la Fase 2, este mismo modelo es la base del cubo SSAS: las jerarquías ya existen en las dimensiones, y PrecioUnitario y DiasDespacho deben promediarse, no sumarse.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AF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B2A4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B2A4A"/>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B2A4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B2A4A"/>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59E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FD166"/>
                </a:solidFill>
                <a:latin typeface="JetBrains Mono" pitchFamily="49" charset="0"/>
                <a:ea typeface="JetBrains Mono" pitchFamily="49" charset="-122"/>
                <a:cs typeface="JetBrains Mono" pitchFamily="49" charset="-120"/>
              </a:rPr>
              <a:t>UTFSM · INTELIGENCIA DE NEGOCIOS · CERTAMEN 2</a:t>
            </a:r>
            <a:endParaRPr lang="en-US" sz="1200" dirty="0"/>
          </a:p>
        </p:txBody>
      </p:sp>
      <p:sp>
        <p:nvSpPr>
          <p:cNvPr id="3" name="Text 1"/>
          <p:cNvSpPr/>
          <p:nvPr>
            <p:ph type="title"/>
          </p:nvPr>
        </p:nvSpPr>
        <p:spPr>
          <a:xfrm>
            <a:off x="812800" y="2464594"/>
            <a:ext cx="10883392" cy="1342033"/>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7F9FF"/>
                </a:solidFill>
                <a:latin typeface="IBM Plex Sans" pitchFamily="34" charset="0"/>
                <a:ea typeface="IBM Plex Sans" pitchFamily="34" charset="-122"/>
                <a:cs typeface="IBM Plex Sans" pitchFamily="34" charset="-120"/>
              </a:rPr>
              <a:t>Kent Foods</a:t>
            </a:r>
            <a:endParaRPr lang="en-US" sz="4800" dirty="0"/>
          </a:p>
          <a:p>
            <a:pPr algn="l" indent="0" marL="0">
              <a:lnSpc>
                <a:spcPts val="5184"/>
              </a:lnSpc>
              <a:buNone/>
            </a:pPr>
            <a:r>
              <a:rPr lang="en-US" sz="4800" b="1" i="0" dirty="0">
                <a:solidFill>
                  <a:srgbClr val="F7F9FF"/>
                </a:solidFill>
                <a:latin typeface="IBM Plex Sans" pitchFamily="34" charset="0"/>
                <a:ea typeface="IBM Plex Sans" pitchFamily="34" charset="-122"/>
                <a:cs typeface="IBM Plex Sans" pitchFamily="34" charset="-120"/>
              </a:rPr>
              <a:t>Data Warehouse de Ventas</a:t>
            </a:r>
            <a:endParaRPr lang="en-US" sz="4800" dirty="0"/>
          </a:p>
        </p:txBody>
      </p:sp>
      <p:sp>
        <p:nvSpPr>
          <p:cNvPr id="4" name="Text 2"/>
          <p:cNvSpPr/>
          <p:nvPr/>
        </p:nvSpPr>
        <p:spPr>
          <a:xfrm>
            <a:off x="812800" y="3984427"/>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6E2FF"/>
                </a:solidFill>
                <a:latin typeface="IBM Plex Sans" pitchFamily="34" charset="0"/>
                <a:ea typeface="IBM Plex Sans" pitchFamily="34" charset="-122"/>
                <a:cs typeface="IBM Plex Sans" pitchFamily="34" charset="-120"/>
              </a:rPr>
              <a:t>Fase 1 · Modelo dimensional y ETL en SSIS</a:t>
            </a:r>
            <a:endParaRPr lang="en-US" sz="2000" dirty="0"/>
          </a:p>
        </p:txBody>
      </p:sp>
      <p:sp>
        <p:nvSpPr>
          <p:cNvPr id="5" name="Text 3"/>
          <p:cNvSpPr/>
          <p:nvPr/>
        </p:nvSpPr>
        <p:spPr>
          <a:xfrm>
            <a:off x="812800" y="5778500"/>
            <a:ext cx="18524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9FF"/>
                </a:solidFill>
                <a:latin typeface="IBM Plex Sans" pitchFamily="34" charset="0"/>
                <a:ea typeface="IBM Plex Sans" pitchFamily="34" charset="-122"/>
                <a:cs typeface="IBM Plex Sans" pitchFamily="34" charset="-120"/>
              </a:rPr>
              <a:t>Maximiliano Pozo</a:t>
            </a:r>
            <a:endParaRPr lang="en-US" sz="1500" dirty="0"/>
          </a:p>
        </p:txBody>
      </p:sp>
      <p:sp>
        <p:nvSpPr>
          <p:cNvPr id="6" name="Text 4"/>
          <p:cNvSpPr/>
          <p:nvPr/>
        </p:nvSpPr>
        <p:spPr>
          <a:xfrm>
            <a:off x="8416449" y="5831880"/>
            <a:ext cx="296275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6E2FF"/>
                </a:solidFill>
                <a:latin typeface="JetBrains Mono" pitchFamily="49" charset="0"/>
                <a:ea typeface="JetBrains Mono" pitchFamily="49" charset="-122"/>
                <a:cs typeface="JetBrains Mono" pitchFamily="49" charset="-120"/>
              </a:rPr>
              <a:t>Paralelo 300 · Octubre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E"/>
        </a:solidFill>
      </p:bgPr>
    </p:bg>
    <p:spTree>
      <p:nvGrpSpPr>
        <p:cNvPr id="1" name=""/>
        <p:cNvGrpSpPr/>
        <p:nvPr/>
      </p:nvGrpSpPr>
      <p:grpSpPr>
        <a:xfrm>
          <a:off x="0" y="0"/>
          <a:ext cx="0" cy="0"/>
          <a:chOff x="0" y="0"/>
          <a:chExt cx="0" cy="0"/>
        </a:xfrm>
      </p:grpSpPr>
      <p:sp>
        <p:nvSpPr>
          <p:cNvPr id="2" name="Text 0"/>
          <p:cNvSpPr/>
          <p:nvPr/>
        </p:nvSpPr>
        <p:spPr>
          <a:xfrm>
            <a:off x="812800" y="6236990"/>
            <a:ext cx="19303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Kent Foods DW · Fase 1</a:t>
            </a:r>
            <a:endParaRPr lang="en-US" sz="1200" dirty="0"/>
          </a:p>
        </p:txBody>
      </p:sp>
      <p:sp>
        <p:nvSpPr>
          <p:cNvPr id="3" name="Text 1"/>
          <p:cNvSpPr/>
          <p:nvPr/>
        </p:nvSpPr>
        <p:spPr>
          <a:xfrm>
            <a:off x="11145441" y="623699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85"/>
                </a:solidFill>
                <a:latin typeface="JetBrains Mono" pitchFamily="49" charset="0"/>
                <a:ea typeface="JetBrains Mono" pitchFamily="49" charset="-122"/>
                <a:cs typeface="JetBrains Mono" pitchFamily="49" charset="-120"/>
              </a:rPr>
              <a:t>02</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459E0"/>
                </a:solidFill>
                <a:latin typeface="JetBrains Mono" pitchFamily="49" charset="0"/>
                <a:ea typeface="JetBrains Mono" pitchFamily="49" charset="-122"/>
                <a:cs typeface="JetBrains Mono" pitchFamily="49" charset="-120"/>
              </a:rPr>
              <a:t>EL CASO</a:t>
            </a:r>
            <a:endParaRPr lang="en-US" sz="1200" dirty="0"/>
          </a:p>
        </p:txBody>
      </p:sp>
      <p:sp>
        <p:nvSpPr>
          <p:cNvPr id="5" name="Text 3"/>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A"/>
                </a:solidFill>
                <a:latin typeface="IBM Plex Sans" pitchFamily="34" charset="0"/>
                <a:ea typeface="IBM Plex Sans" pitchFamily="34" charset="-122"/>
                <a:cs typeface="IBM Plex Sans" pitchFamily="34" charset="-120"/>
              </a:rPr>
              <a:t>Kent Foods vende alimentos con envío a domicilio</a:t>
            </a:r>
            <a:endParaRPr lang="en-US" sz="3200" dirty="0"/>
          </a:p>
        </p:txBody>
      </p:sp>
      <p:sp>
        <p:nvSpPr>
          <p:cNvPr id="6" name="Text 4"/>
          <p:cNvSpPr/>
          <p:nvPr/>
        </p:nvSpPr>
        <p:spPr>
          <a:xfrm>
            <a:off x="812800" y="1905000"/>
            <a:ext cx="6095746"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B2A4A"/>
                </a:solidFill>
                <a:latin typeface="IBM Plex Sans" pitchFamily="34" charset="0"/>
                <a:ea typeface="IBM Plex Sans" pitchFamily="34" charset="-122"/>
                <a:cs typeface="IBM Plex Sans" pitchFamily="34" charset="-120"/>
              </a:rPr>
              <a:t>Para obtener cualquier indicador hay que cruzar varias tablas de la base transaccional.</a:t>
            </a:r>
            <a:endParaRPr lang="en-US" sz="2000" dirty="0"/>
          </a:p>
        </p:txBody>
      </p:sp>
      <p:sp>
        <p:nvSpPr>
          <p:cNvPr id="7" name="Shape 5"/>
          <p:cNvSpPr/>
          <p:nvPr/>
        </p:nvSpPr>
        <p:spPr>
          <a:xfrm>
            <a:off x="825500" y="2819400"/>
            <a:ext cx="0" cy="889000"/>
          </a:xfrm>
          <a:prstGeom prst="line">
            <a:avLst/>
          </a:prstGeom>
          <a:noFill/>
          <a:ln w="25400">
            <a:solidFill>
              <a:srgbClr val="2459E0"/>
            </a:solidFill>
            <a:prstDash val="solid"/>
          </a:ln>
        </p:spPr>
      </p:sp>
      <p:sp>
        <p:nvSpPr>
          <p:cNvPr id="8" name="Text 6"/>
          <p:cNvSpPr/>
          <p:nvPr/>
        </p:nvSpPr>
        <p:spPr>
          <a:xfrm>
            <a:off x="1041400" y="2844800"/>
            <a:ext cx="58602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Objetivo de la Fase 1</a:t>
            </a:r>
            <a:endParaRPr lang="en-US" sz="1500" dirty="0"/>
          </a:p>
        </p:txBody>
      </p:sp>
      <p:sp>
        <p:nvSpPr>
          <p:cNvPr id="9" name="Text 7"/>
          <p:cNvSpPr/>
          <p:nvPr/>
        </p:nvSpPr>
        <p:spPr>
          <a:xfrm>
            <a:off x="1041400" y="3149600"/>
            <a:ext cx="586028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660"/>
                </a:solidFill>
                <a:latin typeface="IBM Plex Sans" pitchFamily="34" charset="0"/>
                <a:ea typeface="IBM Plex Sans" pitchFamily="34" charset="-122"/>
                <a:cs typeface="IBM Plex Sans" pitchFamily="34" charset="-120"/>
              </a:rPr>
              <a:t>Un modelo dimensional cargado con SSIS que deje las ventas listas para analizar y sirva de base al cubo OLAP y a Power BI.</a:t>
            </a:r>
            <a:endParaRPr lang="en-US" sz="1500" dirty="0"/>
          </a:p>
        </p:txBody>
      </p:sp>
      <p:sp>
        <p:nvSpPr>
          <p:cNvPr id="10" name="Shape 8"/>
          <p:cNvSpPr/>
          <p:nvPr/>
        </p:nvSpPr>
        <p:spPr>
          <a:xfrm>
            <a:off x="7572375" y="1755775"/>
            <a:ext cx="3803650" cy="4057650"/>
          </a:xfrm>
          <a:prstGeom prst="roundRect">
            <a:avLst>
              <a:gd name="adj" fmla="val 2588"/>
            </a:avLst>
          </a:prstGeom>
          <a:solidFill>
            <a:srgbClr val="FEFEFF"/>
          </a:solidFill>
          <a:ln w="6350">
            <a:solidFill>
              <a:srgbClr val="DCE3F0"/>
            </a:solidFill>
            <a:prstDash val="solid"/>
          </a:ln>
        </p:spPr>
      </p:sp>
      <p:sp>
        <p:nvSpPr>
          <p:cNvPr id="11" name="Shape 9"/>
          <p:cNvSpPr/>
          <p:nvPr/>
        </p:nvSpPr>
        <p:spPr>
          <a:xfrm>
            <a:off x="7804150" y="2222500"/>
            <a:ext cx="3340100" cy="0"/>
          </a:xfrm>
          <a:prstGeom prst="line">
            <a:avLst/>
          </a:prstGeom>
          <a:noFill/>
          <a:ln w="12700">
            <a:solidFill>
              <a:srgbClr val="1B2A4A"/>
            </a:solidFill>
            <a:prstDash val="solid"/>
          </a:ln>
        </p:spPr>
      </p:sp>
      <p:sp>
        <p:nvSpPr>
          <p:cNvPr id="12" name="Text 10"/>
          <p:cNvSpPr/>
          <p:nvPr/>
        </p:nvSpPr>
        <p:spPr>
          <a:xfrm>
            <a:off x="7804150" y="1936750"/>
            <a:ext cx="245780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Base KentFoods (OLTP)</a:t>
            </a:r>
            <a:endParaRPr lang="en-US" sz="1500" dirty="0"/>
          </a:p>
        </p:txBody>
      </p:sp>
      <p:sp>
        <p:nvSpPr>
          <p:cNvPr id="13" name="Text 11"/>
          <p:cNvSpPr/>
          <p:nvPr/>
        </p:nvSpPr>
        <p:spPr>
          <a:xfrm>
            <a:off x="10759797" y="1936750"/>
            <a:ext cx="384453" cy="25400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Filas</a:t>
            </a:r>
            <a:endParaRPr lang="en-US" sz="1200" dirty="0"/>
          </a:p>
        </p:txBody>
      </p:sp>
      <p:sp>
        <p:nvSpPr>
          <p:cNvPr id="14" name="Shape 12"/>
          <p:cNvSpPr/>
          <p:nvPr/>
        </p:nvSpPr>
        <p:spPr>
          <a:xfrm>
            <a:off x="7804150" y="2572345"/>
            <a:ext cx="3340100" cy="0"/>
          </a:xfrm>
          <a:prstGeom prst="line">
            <a:avLst/>
          </a:prstGeom>
          <a:noFill/>
          <a:ln w="6350">
            <a:solidFill>
              <a:srgbClr val="DCE3F0"/>
            </a:solidFill>
            <a:prstDash val="solid"/>
          </a:ln>
        </p:spPr>
      </p:sp>
      <p:sp>
        <p:nvSpPr>
          <p:cNvPr id="15" name="Text 13"/>
          <p:cNvSpPr/>
          <p:nvPr/>
        </p:nvSpPr>
        <p:spPr>
          <a:xfrm>
            <a:off x="7804150" y="2330450"/>
            <a:ext cx="13168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DetalleOrden</a:t>
            </a:r>
            <a:endParaRPr lang="en-US" sz="1200" dirty="0"/>
          </a:p>
        </p:txBody>
      </p:sp>
      <p:sp>
        <p:nvSpPr>
          <p:cNvPr id="16" name="Text 14"/>
          <p:cNvSpPr/>
          <p:nvPr/>
        </p:nvSpPr>
        <p:spPr>
          <a:xfrm>
            <a:off x="10595610" y="2330450"/>
            <a:ext cx="54864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459E0"/>
                </a:solidFill>
                <a:latin typeface="JetBrains Mono" pitchFamily="49" charset="0"/>
                <a:ea typeface="JetBrains Mono" pitchFamily="49" charset="-122"/>
                <a:cs typeface="JetBrains Mono" pitchFamily="49" charset="-120"/>
              </a:rPr>
              <a:t>2.155</a:t>
            </a:r>
            <a:endParaRPr lang="en-US" sz="1200" dirty="0"/>
          </a:p>
        </p:txBody>
      </p:sp>
      <p:sp>
        <p:nvSpPr>
          <p:cNvPr id="17" name="Shape 15"/>
          <p:cNvSpPr/>
          <p:nvPr/>
        </p:nvSpPr>
        <p:spPr>
          <a:xfrm>
            <a:off x="7804150" y="2842816"/>
            <a:ext cx="3340100" cy="0"/>
          </a:xfrm>
          <a:prstGeom prst="line">
            <a:avLst/>
          </a:prstGeom>
          <a:noFill/>
          <a:ln w="6350">
            <a:solidFill>
              <a:srgbClr val="DCE3F0"/>
            </a:solidFill>
            <a:prstDash val="solid"/>
          </a:ln>
        </p:spPr>
      </p:sp>
      <p:sp>
        <p:nvSpPr>
          <p:cNvPr id="18" name="Text 16"/>
          <p:cNvSpPr/>
          <p:nvPr/>
        </p:nvSpPr>
        <p:spPr>
          <a:xfrm>
            <a:off x="7804150" y="2600920"/>
            <a:ext cx="7681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JetBrains Mono" pitchFamily="49" charset="0"/>
                <a:ea typeface="JetBrains Mono" pitchFamily="49" charset="-122"/>
                <a:cs typeface="JetBrains Mono" pitchFamily="49" charset="-120"/>
              </a:rPr>
              <a:t>Ordenes</a:t>
            </a:r>
            <a:endParaRPr lang="en-US" sz="1200" dirty="0"/>
          </a:p>
        </p:txBody>
      </p:sp>
      <p:sp>
        <p:nvSpPr>
          <p:cNvPr id="19" name="Text 17"/>
          <p:cNvSpPr/>
          <p:nvPr/>
        </p:nvSpPr>
        <p:spPr>
          <a:xfrm>
            <a:off x="10815042" y="2600920"/>
            <a:ext cx="329208"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830</a:t>
            </a:r>
            <a:endParaRPr lang="en-US" sz="1200" dirty="0"/>
          </a:p>
        </p:txBody>
      </p:sp>
      <p:sp>
        <p:nvSpPr>
          <p:cNvPr id="20" name="Shape 18"/>
          <p:cNvSpPr/>
          <p:nvPr/>
        </p:nvSpPr>
        <p:spPr>
          <a:xfrm>
            <a:off x="7804150" y="3113286"/>
            <a:ext cx="3340100" cy="0"/>
          </a:xfrm>
          <a:prstGeom prst="line">
            <a:avLst/>
          </a:prstGeom>
          <a:noFill/>
          <a:ln w="6350">
            <a:solidFill>
              <a:srgbClr val="DCE3F0"/>
            </a:solidFill>
            <a:prstDash val="solid"/>
          </a:ln>
        </p:spPr>
      </p:sp>
      <p:sp>
        <p:nvSpPr>
          <p:cNvPr id="21" name="Text 19"/>
          <p:cNvSpPr/>
          <p:nvPr/>
        </p:nvSpPr>
        <p:spPr>
          <a:xfrm>
            <a:off x="7804150" y="2871391"/>
            <a:ext cx="8778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JetBrains Mono" pitchFamily="49" charset="0"/>
                <a:ea typeface="JetBrains Mono" pitchFamily="49" charset="-122"/>
                <a:cs typeface="JetBrains Mono" pitchFamily="49" charset="-120"/>
              </a:rPr>
              <a:t>Clientes</a:t>
            </a:r>
            <a:endParaRPr lang="en-US" sz="1200" dirty="0"/>
          </a:p>
        </p:txBody>
      </p:sp>
      <p:sp>
        <p:nvSpPr>
          <p:cNvPr id="22" name="Text 20"/>
          <p:cNvSpPr/>
          <p:nvPr/>
        </p:nvSpPr>
        <p:spPr>
          <a:xfrm>
            <a:off x="10910491" y="2871391"/>
            <a:ext cx="23375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91</a:t>
            </a:r>
            <a:endParaRPr lang="en-US" sz="1200" dirty="0"/>
          </a:p>
        </p:txBody>
      </p:sp>
      <p:sp>
        <p:nvSpPr>
          <p:cNvPr id="23" name="Shape 21"/>
          <p:cNvSpPr/>
          <p:nvPr/>
        </p:nvSpPr>
        <p:spPr>
          <a:xfrm>
            <a:off x="7804150" y="3383756"/>
            <a:ext cx="3340100" cy="0"/>
          </a:xfrm>
          <a:prstGeom prst="line">
            <a:avLst/>
          </a:prstGeom>
          <a:noFill/>
          <a:ln w="6350">
            <a:solidFill>
              <a:srgbClr val="DCE3F0"/>
            </a:solidFill>
            <a:prstDash val="solid"/>
          </a:ln>
        </p:spPr>
      </p:sp>
      <p:sp>
        <p:nvSpPr>
          <p:cNvPr id="24" name="Text 22"/>
          <p:cNvSpPr/>
          <p:nvPr/>
        </p:nvSpPr>
        <p:spPr>
          <a:xfrm>
            <a:off x="7804150" y="3141861"/>
            <a:ext cx="9876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JetBrains Mono" pitchFamily="49" charset="0"/>
                <a:ea typeface="JetBrains Mono" pitchFamily="49" charset="-122"/>
                <a:cs typeface="JetBrains Mono" pitchFamily="49" charset="-120"/>
              </a:rPr>
              <a:t>Productos</a:t>
            </a:r>
            <a:endParaRPr lang="en-US" sz="1200" dirty="0"/>
          </a:p>
        </p:txBody>
      </p:sp>
      <p:sp>
        <p:nvSpPr>
          <p:cNvPr id="25" name="Text 23"/>
          <p:cNvSpPr/>
          <p:nvPr/>
        </p:nvSpPr>
        <p:spPr>
          <a:xfrm>
            <a:off x="10910491" y="3141861"/>
            <a:ext cx="23375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77</a:t>
            </a:r>
            <a:endParaRPr lang="en-US" sz="1200" dirty="0"/>
          </a:p>
        </p:txBody>
      </p:sp>
      <p:sp>
        <p:nvSpPr>
          <p:cNvPr id="26" name="Shape 24"/>
          <p:cNvSpPr/>
          <p:nvPr/>
        </p:nvSpPr>
        <p:spPr>
          <a:xfrm>
            <a:off x="7804150" y="3654227"/>
            <a:ext cx="3340100" cy="0"/>
          </a:xfrm>
          <a:prstGeom prst="line">
            <a:avLst/>
          </a:prstGeom>
          <a:noFill/>
          <a:ln w="6350">
            <a:solidFill>
              <a:srgbClr val="DCE3F0"/>
            </a:solidFill>
            <a:prstDash val="solid"/>
          </a:ln>
        </p:spPr>
      </p:sp>
      <p:sp>
        <p:nvSpPr>
          <p:cNvPr id="27" name="Text 25"/>
          <p:cNvSpPr/>
          <p:nvPr/>
        </p:nvSpPr>
        <p:spPr>
          <a:xfrm>
            <a:off x="7804150" y="3412331"/>
            <a:ext cx="12070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JetBrains Mono" pitchFamily="49" charset="0"/>
                <a:ea typeface="JetBrains Mono" pitchFamily="49" charset="-122"/>
                <a:cs typeface="JetBrains Mono" pitchFamily="49" charset="-120"/>
              </a:rPr>
              <a:t>Territorios</a:t>
            </a:r>
            <a:endParaRPr lang="en-US" sz="1200" dirty="0"/>
          </a:p>
        </p:txBody>
      </p:sp>
      <p:sp>
        <p:nvSpPr>
          <p:cNvPr id="28" name="Text 26"/>
          <p:cNvSpPr/>
          <p:nvPr/>
        </p:nvSpPr>
        <p:spPr>
          <a:xfrm>
            <a:off x="10910491" y="3412331"/>
            <a:ext cx="23375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53</a:t>
            </a:r>
            <a:endParaRPr lang="en-US" sz="1200" dirty="0"/>
          </a:p>
        </p:txBody>
      </p:sp>
      <p:sp>
        <p:nvSpPr>
          <p:cNvPr id="29" name="Shape 27"/>
          <p:cNvSpPr/>
          <p:nvPr/>
        </p:nvSpPr>
        <p:spPr>
          <a:xfrm>
            <a:off x="7804150" y="3924697"/>
            <a:ext cx="3340100" cy="0"/>
          </a:xfrm>
          <a:prstGeom prst="line">
            <a:avLst/>
          </a:prstGeom>
          <a:noFill/>
          <a:ln w="6350">
            <a:solidFill>
              <a:srgbClr val="DCE3F0"/>
            </a:solidFill>
            <a:prstDash val="solid"/>
          </a:ln>
        </p:spPr>
      </p:sp>
      <p:sp>
        <p:nvSpPr>
          <p:cNvPr id="30" name="Text 28"/>
          <p:cNvSpPr/>
          <p:nvPr/>
        </p:nvSpPr>
        <p:spPr>
          <a:xfrm>
            <a:off x="7804150" y="3682802"/>
            <a:ext cx="2194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JetBrains Mono" pitchFamily="49" charset="0"/>
                <a:ea typeface="JetBrains Mono" pitchFamily="49" charset="-122"/>
                <a:cs typeface="JetBrains Mono" pitchFamily="49" charset="-120"/>
              </a:rPr>
              <a:t>TerritoriosEmpleados</a:t>
            </a:r>
            <a:endParaRPr lang="en-US" sz="1200" dirty="0"/>
          </a:p>
        </p:txBody>
      </p:sp>
      <p:sp>
        <p:nvSpPr>
          <p:cNvPr id="31" name="Text 29"/>
          <p:cNvSpPr/>
          <p:nvPr/>
        </p:nvSpPr>
        <p:spPr>
          <a:xfrm>
            <a:off x="10910491" y="3682802"/>
            <a:ext cx="23375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49</a:t>
            </a:r>
            <a:endParaRPr lang="en-US" sz="1200" dirty="0"/>
          </a:p>
        </p:txBody>
      </p:sp>
      <p:sp>
        <p:nvSpPr>
          <p:cNvPr id="32" name="Shape 30"/>
          <p:cNvSpPr/>
          <p:nvPr/>
        </p:nvSpPr>
        <p:spPr>
          <a:xfrm>
            <a:off x="7804150" y="4195167"/>
            <a:ext cx="3340100" cy="0"/>
          </a:xfrm>
          <a:prstGeom prst="line">
            <a:avLst/>
          </a:prstGeom>
          <a:noFill/>
          <a:ln w="6350">
            <a:solidFill>
              <a:srgbClr val="DCE3F0"/>
            </a:solidFill>
            <a:prstDash val="solid"/>
          </a:ln>
        </p:spPr>
      </p:sp>
      <p:sp>
        <p:nvSpPr>
          <p:cNvPr id="33" name="Text 31"/>
          <p:cNvSpPr/>
          <p:nvPr/>
        </p:nvSpPr>
        <p:spPr>
          <a:xfrm>
            <a:off x="7804150" y="3953272"/>
            <a:ext cx="12070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JetBrains Mono" pitchFamily="49" charset="0"/>
                <a:ea typeface="JetBrains Mono" pitchFamily="49" charset="-122"/>
                <a:cs typeface="JetBrains Mono" pitchFamily="49" charset="-120"/>
              </a:rPr>
              <a:t>Proveedores</a:t>
            </a:r>
            <a:endParaRPr lang="en-US" sz="1200" dirty="0"/>
          </a:p>
        </p:txBody>
      </p:sp>
      <p:sp>
        <p:nvSpPr>
          <p:cNvPr id="34" name="Text 32"/>
          <p:cNvSpPr/>
          <p:nvPr/>
        </p:nvSpPr>
        <p:spPr>
          <a:xfrm>
            <a:off x="10910491" y="3953272"/>
            <a:ext cx="233759"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29</a:t>
            </a:r>
            <a:endParaRPr lang="en-US" sz="1200" dirty="0"/>
          </a:p>
        </p:txBody>
      </p:sp>
      <p:sp>
        <p:nvSpPr>
          <p:cNvPr id="35" name="Shape 33"/>
          <p:cNvSpPr/>
          <p:nvPr/>
        </p:nvSpPr>
        <p:spPr>
          <a:xfrm>
            <a:off x="7804150" y="4465638"/>
            <a:ext cx="3340100" cy="0"/>
          </a:xfrm>
          <a:prstGeom prst="line">
            <a:avLst/>
          </a:prstGeom>
          <a:noFill/>
          <a:ln w="6350">
            <a:solidFill>
              <a:srgbClr val="DCE3F0"/>
            </a:solidFill>
            <a:prstDash val="solid"/>
          </a:ln>
        </p:spPr>
      </p:sp>
      <p:sp>
        <p:nvSpPr>
          <p:cNvPr id="36" name="Text 34"/>
          <p:cNvSpPr/>
          <p:nvPr/>
        </p:nvSpPr>
        <p:spPr>
          <a:xfrm>
            <a:off x="7804150" y="4223742"/>
            <a:ext cx="9876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JetBrains Mono" pitchFamily="49" charset="0"/>
                <a:ea typeface="JetBrains Mono" pitchFamily="49" charset="-122"/>
                <a:cs typeface="JetBrains Mono" pitchFamily="49" charset="-120"/>
              </a:rPr>
              <a:t>Empleados</a:t>
            </a:r>
            <a:endParaRPr lang="en-US" sz="1200" dirty="0"/>
          </a:p>
        </p:txBody>
      </p:sp>
      <p:sp>
        <p:nvSpPr>
          <p:cNvPr id="37" name="Text 35"/>
          <p:cNvSpPr/>
          <p:nvPr/>
        </p:nvSpPr>
        <p:spPr>
          <a:xfrm>
            <a:off x="11001970" y="4223742"/>
            <a:ext cx="14228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9</a:t>
            </a:r>
            <a:endParaRPr lang="en-US" sz="1200" dirty="0"/>
          </a:p>
        </p:txBody>
      </p:sp>
      <p:sp>
        <p:nvSpPr>
          <p:cNvPr id="38" name="Shape 36"/>
          <p:cNvSpPr/>
          <p:nvPr/>
        </p:nvSpPr>
        <p:spPr>
          <a:xfrm>
            <a:off x="7804150" y="4736108"/>
            <a:ext cx="3340100" cy="0"/>
          </a:xfrm>
          <a:prstGeom prst="line">
            <a:avLst/>
          </a:prstGeom>
          <a:noFill/>
          <a:ln w="6350">
            <a:solidFill>
              <a:srgbClr val="DCE3F0"/>
            </a:solidFill>
            <a:prstDash val="solid"/>
          </a:ln>
        </p:spPr>
      </p:sp>
      <p:sp>
        <p:nvSpPr>
          <p:cNvPr id="39" name="Text 37"/>
          <p:cNvSpPr/>
          <p:nvPr/>
        </p:nvSpPr>
        <p:spPr>
          <a:xfrm>
            <a:off x="7804150" y="4494213"/>
            <a:ext cx="10972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JetBrains Mono" pitchFamily="49" charset="0"/>
                <a:ea typeface="JetBrains Mono" pitchFamily="49" charset="-122"/>
                <a:cs typeface="JetBrains Mono" pitchFamily="49" charset="-120"/>
              </a:rPr>
              <a:t>Categorias</a:t>
            </a:r>
            <a:endParaRPr lang="en-US" sz="1200" dirty="0"/>
          </a:p>
        </p:txBody>
      </p:sp>
      <p:sp>
        <p:nvSpPr>
          <p:cNvPr id="40" name="Text 38"/>
          <p:cNvSpPr/>
          <p:nvPr/>
        </p:nvSpPr>
        <p:spPr>
          <a:xfrm>
            <a:off x="11001970" y="4494213"/>
            <a:ext cx="14228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8</a:t>
            </a:r>
            <a:endParaRPr lang="en-US" sz="1200" dirty="0"/>
          </a:p>
        </p:txBody>
      </p:sp>
      <p:sp>
        <p:nvSpPr>
          <p:cNvPr id="41" name="Shape 39"/>
          <p:cNvSpPr/>
          <p:nvPr/>
        </p:nvSpPr>
        <p:spPr>
          <a:xfrm>
            <a:off x="7804150" y="5006578"/>
            <a:ext cx="3340100" cy="0"/>
          </a:xfrm>
          <a:prstGeom prst="line">
            <a:avLst/>
          </a:prstGeom>
          <a:noFill/>
          <a:ln w="6350">
            <a:solidFill>
              <a:srgbClr val="DCE3F0"/>
            </a:solidFill>
            <a:prstDash val="solid"/>
          </a:ln>
        </p:spPr>
      </p:sp>
      <p:sp>
        <p:nvSpPr>
          <p:cNvPr id="42" name="Text 40"/>
          <p:cNvSpPr/>
          <p:nvPr/>
        </p:nvSpPr>
        <p:spPr>
          <a:xfrm>
            <a:off x="7804150" y="4764683"/>
            <a:ext cx="8778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JetBrains Mono" pitchFamily="49" charset="0"/>
                <a:ea typeface="JetBrains Mono" pitchFamily="49" charset="-122"/>
                <a:cs typeface="JetBrains Mono" pitchFamily="49" charset="-120"/>
              </a:rPr>
              <a:t>Regiones</a:t>
            </a:r>
            <a:endParaRPr lang="en-US" sz="1200" dirty="0"/>
          </a:p>
        </p:txBody>
      </p:sp>
      <p:sp>
        <p:nvSpPr>
          <p:cNvPr id="43" name="Text 41"/>
          <p:cNvSpPr/>
          <p:nvPr/>
        </p:nvSpPr>
        <p:spPr>
          <a:xfrm>
            <a:off x="11001970" y="4764683"/>
            <a:ext cx="14228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4</a:t>
            </a:r>
            <a:endParaRPr lang="en-US" sz="1200" dirty="0"/>
          </a:p>
        </p:txBody>
      </p:sp>
      <p:sp>
        <p:nvSpPr>
          <p:cNvPr id="44" name="Text 42"/>
          <p:cNvSpPr/>
          <p:nvPr/>
        </p:nvSpPr>
        <p:spPr>
          <a:xfrm>
            <a:off x="7804150" y="5035153"/>
            <a:ext cx="15362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JetBrains Mono" pitchFamily="49" charset="0"/>
                <a:ea typeface="JetBrains Mono" pitchFamily="49" charset="-122"/>
                <a:cs typeface="JetBrains Mono" pitchFamily="49" charset="-120"/>
              </a:rPr>
              <a:t>Transportistas</a:t>
            </a:r>
            <a:endParaRPr lang="en-US" sz="1200" dirty="0"/>
          </a:p>
        </p:txBody>
      </p:sp>
      <p:sp>
        <p:nvSpPr>
          <p:cNvPr id="45" name="Text 43"/>
          <p:cNvSpPr/>
          <p:nvPr/>
        </p:nvSpPr>
        <p:spPr>
          <a:xfrm>
            <a:off x="11001970" y="5035153"/>
            <a:ext cx="14228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459E0"/>
                </a:solidFill>
                <a:latin typeface="JetBrains Mono" pitchFamily="49" charset="0"/>
                <a:ea typeface="JetBrains Mono" pitchFamily="49" charset="-122"/>
                <a:cs typeface="JetBrains Mono" pitchFamily="49" charset="-120"/>
              </a:rPr>
              <a:t>KPI DEFINIDOS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A"/>
                </a:solidFill>
                <a:latin typeface="IBM Plex Sans" pitchFamily="34" charset="0"/>
                <a:ea typeface="IBM Plex Sans" pitchFamily="34" charset="-122"/>
                <a:cs typeface="IBM Plex Sans" pitchFamily="34" charset="-120"/>
              </a:rPr>
              <a:t>Seis indicadores que el modelo debe responder</a:t>
            </a:r>
            <a:endParaRPr lang="en-US" sz="3200" dirty="0"/>
          </a:p>
        </p:txBody>
      </p:sp>
      <p:sp>
        <p:nvSpPr>
          <p:cNvPr id="4" name="Shape 2"/>
          <p:cNvSpPr/>
          <p:nvPr/>
        </p:nvSpPr>
        <p:spPr>
          <a:xfrm>
            <a:off x="815975" y="1806476"/>
            <a:ext cx="3380284" cy="1652091"/>
          </a:xfrm>
          <a:prstGeom prst="roundRect">
            <a:avLst>
              <a:gd name="adj" fmla="val 4420"/>
            </a:avLst>
          </a:prstGeom>
          <a:solidFill>
            <a:srgbClr val="FEFEFF"/>
          </a:solidFill>
          <a:ln w="6350">
            <a:solidFill>
              <a:srgbClr val="DCE3F0"/>
            </a:solidFill>
            <a:prstDash val="solid"/>
          </a:ln>
        </p:spPr>
      </p:sp>
      <p:sp>
        <p:nvSpPr>
          <p:cNvPr id="5" name="Text 3"/>
          <p:cNvSpPr/>
          <p:nvPr/>
        </p:nvSpPr>
        <p:spPr>
          <a:xfrm>
            <a:off x="1022350" y="201285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9E0"/>
                </a:solidFill>
                <a:latin typeface="JetBrains Mono" pitchFamily="49" charset="0"/>
                <a:ea typeface="JetBrains Mono" pitchFamily="49" charset="-122"/>
                <a:cs typeface="JetBrains Mono" pitchFamily="49" charset="-120"/>
              </a:rPr>
              <a:t>VENTAS NETAS</a:t>
            </a:r>
            <a:endParaRPr lang="en-US" sz="1200" dirty="0"/>
          </a:p>
        </p:txBody>
      </p:sp>
      <p:sp>
        <p:nvSpPr>
          <p:cNvPr id="6" name="Text 4"/>
          <p:cNvSpPr/>
          <p:nvPr/>
        </p:nvSpPr>
        <p:spPr>
          <a:xfrm>
            <a:off x="1022350" y="2302371"/>
            <a:ext cx="3056560"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B2A4A"/>
                </a:solidFill>
                <a:latin typeface="IBM Plex Sans" pitchFamily="34" charset="0"/>
                <a:ea typeface="IBM Plex Sans" pitchFamily="34" charset="-122"/>
                <a:cs typeface="IBM Plex Sans" pitchFamily="34" charset="-120"/>
              </a:rPr>
              <a:t>1.265.792,76</a:t>
            </a:r>
            <a:endParaRPr lang="en-US" sz="3200" dirty="0"/>
          </a:p>
        </p:txBody>
      </p:sp>
      <p:sp>
        <p:nvSpPr>
          <p:cNvPr id="7" name="Text 5"/>
          <p:cNvSpPr/>
          <p:nvPr/>
        </p:nvSpPr>
        <p:spPr>
          <a:xfrm>
            <a:off x="1022350" y="2825552"/>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Precio × cantidad × (1 − descuento), jul-2016 a may-2018</a:t>
            </a:r>
            <a:endParaRPr lang="en-US" sz="1200" dirty="0"/>
          </a:p>
        </p:txBody>
      </p:sp>
      <p:sp>
        <p:nvSpPr>
          <p:cNvPr id="8" name="Shape 6"/>
          <p:cNvSpPr/>
          <p:nvPr/>
        </p:nvSpPr>
        <p:spPr>
          <a:xfrm>
            <a:off x="4405809" y="1806476"/>
            <a:ext cx="3380284" cy="1652091"/>
          </a:xfrm>
          <a:prstGeom prst="roundRect">
            <a:avLst>
              <a:gd name="adj" fmla="val 4420"/>
            </a:avLst>
          </a:prstGeom>
          <a:solidFill>
            <a:srgbClr val="FEFEFF"/>
          </a:solidFill>
          <a:ln w="6350">
            <a:solidFill>
              <a:srgbClr val="DCE3F0"/>
            </a:solidFill>
            <a:prstDash val="solid"/>
          </a:ln>
        </p:spPr>
      </p:sp>
      <p:sp>
        <p:nvSpPr>
          <p:cNvPr id="9" name="Text 7"/>
          <p:cNvSpPr/>
          <p:nvPr/>
        </p:nvSpPr>
        <p:spPr>
          <a:xfrm>
            <a:off x="4612184" y="201285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9E0"/>
                </a:solidFill>
                <a:latin typeface="JetBrains Mono" pitchFamily="49" charset="0"/>
                <a:ea typeface="JetBrains Mono" pitchFamily="49" charset="-122"/>
                <a:cs typeface="JetBrains Mono" pitchFamily="49" charset="-120"/>
              </a:rPr>
              <a:t>TICKET PROMEDIO</a:t>
            </a:r>
            <a:endParaRPr lang="en-US" sz="1200" dirty="0"/>
          </a:p>
        </p:txBody>
      </p:sp>
      <p:sp>
        <p:nvSpPr>
          <p:cNvPr id="10" name="Text 8"/>
          <p:cNvSpPr/>
          <p:nvPr/>
        </p:nvSpPr>
        <p:spPr>
          <a:xfrm>
            <a:off x="4612184" y="2302371"/>
            <a:ext cx="3056560"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B2A4A"/>
                </a:solidFill>
                <a:latin typeface="IBM Plex Sans" pitchFamily="34" charset="0"/>
                <a:ea typeface="IBM Plex Sans" pitchFamily="34" charset="-122"/>
                <a:cs typeface="IBM Plex Sans" pitchFamily="34" charset="-120"/>
              </a:rPr>
              <a:t>1.525</a:t>
            </a:r>
            <a:endParaRPr lang="en-US" sz="3200" dirty="0"/>
          </a:p>
        </p:txBody>
      </p:sp>
      <p:sp>
        <p:nvSpPr>
          <p:cNvPr id="11" name="Text 9"/>
          <p:cNvSpPr/>
          <p:nvPr/>
        </p:nvSpPr>
        <p:spPr>
          <a:xfrm>
            <a:off x="4612184" y="2825552"/>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Ventas netas ÷ 830 órdenes</a:t>
            </a:r>
            <a:endParaRPr lang="en-US" sz="1200" dirty="0"/>
          </a:p>
        </p:txBody>
      </p:sp>
      <p:sp>
        <p:nvSpPr>
          <p:cNvPr id="12" name="Shape 10"/>
          <p:cNvSpPr/>
          <p:nvPr/>
        </p:nvSpPr>
        <p:spPr>
          <a:xfrm>
            <a:off x="7995642" y="1806476"/>
            <a:ext cx="3380284" cy="1652091"/>
          </a:xfrm>
          <a:prstGeom prst="roundRect">
            <a:avLst>
              <a:gd name="adj" fmla="val 4420"/>
            </a:avLst>
          </a:prstGeom>
          <a:solidFill>
            <a:srgbClr val="FEFEFF"/>
          </a:solidFill>
          <a:ln w="6350">
            <a:solidFill>
              <a:srgbClr val="DCE3F0"/>
            </a:solidFill>
            <a:prstDash val="solid"/>
          </a:ln>
        </p:spPr>
      </p:sp>
      <p:sp>
        <p:nvSpPr>
          <p:cNvPr id="13" name="Text 11"/>
          <p:cNvSpPr/>
          <p:nvPr/>
        </p:nvSpPr>
        <p:spPr>
          <a:xfrm>
            <a:off x="8202017" y="201285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9E0"/>
                </a:solidFill>
                <a:latin typeface="JetBrains Mono" pitchFamily="49" charset="0"/>
                <a:ea typeface="JetBrains Mono" pitchFamily="49" charset="-122"/>
                <a:cs typeface="JetBrains Mono" pitchFamily="49" charset="-120"/>
              </a:rPr>
              <a:t>DÍAS DE DESPACHO</a:t>
            </a:r>
            <a:endParaRPr lang="en-US" sz="1200" dirty="0"/>
          </a:p>
        </p:txBody>
      </p:sp>
      <p:sp>
        <p:nvSpPr>
          <p:cNvPr id="14" name="Text 12"/>
          <p:cNvSpPr/>
          <p:nvPr/>
        </p:nvSpPr>
        <p:spPr>
          <a:xfrm>
            <a:off x="8202017" y="2302371"/>
            <a:ext cx="3056560"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B2A4A"/>
                </a:solidFill>
                <a:latin typeface="IBM Plex Sans" pitchFamily="34" charset="0"/>
                <a:ea typeface="IBM Plex Sans" pitchFamily="34" charset="-122"/>
                <a:cs typeface="IBM Plex Sans" pitchFamily="34" charset="-120"/>
              </a:rPr>
              <a:t>8,5 días</a:t>
            </a:r>
            <a:endParaRPr lang="en-US" sz="3200" dirty="0"/>
          </a:p>
        </p:txBody>
      </p:sp>
      <p:sp>
        <p:nvSpPr>
          <p:cNvPr id="15" name="Text 13"/>
          <p:cNvSpPr/>
          <p:nvPr/>
        </p:nvSpPr>
        <p:spPr>
          <a:xfrm>
            <a:off x="8202017" y="2825552"/>
            <a:ext cx="31707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Promedio por orden; mínimo 1, máximo 37</a:t>
            </a:r>
            <a:endParaRPr lang="en-US" sz="1200" dirty="0"/>
          </a:p>
        </p:txBody>
      </p:sp>
      <p:sp>
        <p:nvSpPr>
          <p:cNvPr id="16" name="Shape 14"/>
          <p:cNvSpPr/>
          <p:nvPr/>
        </p:nvSpPr>
        <p:spPr>
          <a:xfrm>
            <a:off x="815975" y="3668117"/>
            <a:ext cx="3380284" cy="1652091"/>
          </a:xfrm>
          <a:prstGeom prst="roundRect">
            <a:avLst>
              <a:gd name="adj" fmla="val 4420"/>
            </a:avLst>
          </a:prstGeom>
          <a:solidFill>
            <a:srgbClr val="FEFEFF"/>
          </a:solidFill>
          <a:ln w="6350">
            <a:solidFill>
              <a:srgbClr val="DCE3F0"/>
            </a:solidFill>
            <a:prstDash val="solid"/>
          </a:ln>
        </p:spPr>
      </p:sp>
      <p:sp>
        <p:nvSpPr>
          <p:cNvPr id="17" name="Text 15"/>
          <p:cNvSpPr/>
          <p:nvPr/>
        </p:nvSpPr>
        <p:spPr>
          <a:xfrm>
            <a:off x="1022350" y="3874492"/>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7D63"/>
                </a:solidFill>
                <a:latin typeface="JetBrains Mono" pitchFamily="49" charset="0"/>
                <a:ea typeface="JetBrains Mono" pitchFamily="49" charset="-122"/>
                <a:cs typeface="JetBrains Mono" pitchFamily="49" charset="-120"/>
              </a:rPr>
              <a:t>% DE DESCUENTO</a:t>
            </a:r>
            <a:endParaRPr lang="en-US" sz="1200" dirty="0"/>
          </a:p>
        </p:txBody>
      </p:sp>
      <p:sp>
        <p:nvSpPr>
          <p:cNvPr id="18" name="Text 16"/>
          <p:cNvSpPr/>
          <p:nvPr/>
        </p:nvSpPr>
        <p:spPr>
          <a:xfrm>
            <a:off x="1022350" y="4164013"/>
            <a:ext cx="3056560"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B2A4A"/>
                </a:solidFill>
                <a:latin typeface="IBM Plex Sans" pitchFamily="34" charset="0"/>
                <a:ea typeface="IBM Plex Sans" pitchFamily="34" charset="-122"/>
                <a:cs typeface="IBM Plex Sans" pitchFamily="34" charset="-120"/>
              </a:rPr>
              <a:t>6,5 %</a:t>
            </a:r>
            <a:endParaRPr lang="en-US" sz="3200" dirty="0"/>
          </a:p>
        </p:txBody>
      </p:sp>
      <p:sp>
        <p:nvSpPr>
          <p:cNvPr id="19" name="Text 17"/>
          <p:cNvSpPr/>
          <p:nvPr/>
        </p:nvSpPr>
        <p:spPr>
          <a:xfrm>
            <a:off x="1022350" y="4687193"/>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88.665,83 en total · 107 por orden en promedio </a:t>
            </a:r>
            <a:endParaRPr lang="en-US" sz="1200" dirty="0"/>
          </a:p>
        </p:txBody>
      </p:sp>
      <p:sp>
        <p:nvSpPr>
          <p:cNvPr id="20" name="Shape 18"/>
          <p:cNvSpPr/>
          <p:nvPr/>
        </p:nvSpPr>
        <p:spPr>
          <a:xfrm>
            <a:off x="4405809" y="3668117"/>
            <a:ext cx="3380284" cy="1652091"/>
          </a:xfrm>
          <a:prstGeom prst="roundRect">
            <a:avLst>
              <a:gd name="adj" fmla="val 4420"/>
            </a:avLst>
          </a:prstGeom>
          <a:solidFill>
            <a:srgbClr val="FEFEFF"/>
          </a:solidFill>
          <a:ln w="6350">
            <a:solidFill>
              <a:srgbClr val="DCE3F0"/>
            </a:solidFill>
            <a:prstDash val="solid"/>
          </a:ln>
        </p:spPr>
      </p:sp>
      <p:sp>
        <p:nvSpPr>
          <p:cNvPr id="21" name="Text 19"/>
          <p:cNvSpPr/>
          <p:nvPr/>
        </p:nvSpPr>
        <p:spPr>
          <a:xfrm>
            <a:off x="4612184" y="3874492"/>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7D63"/>
                </a:solidFill>
                <a:latin typeface="JetBrains Mono" pitchFamily="49" charset="0"/>
                <a:ea typeface="JetBrains Mono" pitchFamily="49" charset="-122"/>
                <a:cs typeface="JetBrains Mono" pitchFamily="49" charset="-120"/>
              </a:rPr>
              <a:t>VENTAS POR EMPLEADO</a:t>
            </a:r>
            <a:endParaRPr lang="en-US" sz="1200" dirty="0"/>
          </a:p>
        </p:txBody>
      </p:sp>
      <p:sp>
        <p:nvSpPr>
          <p:cNvPr id="22" name="Text 20"/>
          <p:cNvSpPr/>
          <p:nvPr/>
        </p:nvSpPr>
        <p:spPr>
          <a:xfrm>
            <a:off x="4612184" y="4164013"/>
            <a:ext cx="3056560"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B2A4A"/>
                </a:solidFill>
                <a:latin typeface="IBM Plex Sans" pitchFamily="34" charset="0"/>
                <a:ea typeface="IBM Plex Sans" pitchFamily="34" charset="-122"/>
                <a:cs typeface="IBM Plex Sans" pitchFamily="34" charset="-120"/>
              </a:rPr>
              <a:t>232.891</a:t>
            </a:r>
            <a:endParaRPr lang="en-US" sz="3200" dirty="0"/>
          </a:p>
        </p:txBody>
      </p:sp>
      <p:sp>
        <p:nvSpPr>
          <p:cNvPr id="23" name="Text 21"/>
          <p:cNvSpPr/>
          <p:nvPr/>
        </p:nvSpPr>
        <p:spPr>
          <a:xfrm>
            <a:off x="4612184" y="4687193"/>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Margaret Peacock lidera; Buchanan, 68.792</a:t>
            </a:r>
            <a:endParaRPr lang="en-US" sz="1200" dirty="0"/>
          </a:p>
        </p:txBody>
      </p:sp>
      <p:sp>
        <p:nvSpPr>
          <p:cNvPr id="24" name="Shape 22"/>
          <p:cNvSpPr/>
          <p:nvPr/>
        </p:nvSpPr>
        <p:spPr>
          <a:xfrm>
            <a:off x="7995642" y="3668117"/>
            <a:ext cx="3380284" cy="1652091"/>
          </a:xfrm>
          <a:prstGeom prst="roundRect">
            <a:avLst>
              <a:gd name="adj" fmla="val 4420"/>
            </a:avLst>
          </a:prstGeom>
          <a:solidFill>
            <a:srgbClr val="FEFEFF"/>
          </a:solidFill>
          <a:ln w="6350">
            <a:solidFill>
              <a:srgbClr val="DCE3F0"/>
            </a:solidFill>
            <a:prstDash val="solid"/>
          </a:ln>
        </p:spPr>
      </p:sp>
      <p:sp>
        <p:nvSpPr>
          <p:cNvPr id="25" name="Text 23"/>
          <p:cNvSpPr/>
          <p:nvPr/>
        </p:nvSpPr>
        <p:spPr>
          <a:xfrm>
            <a:off x="8202017" y="3874492"/>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7D63"/>
                </a:solidFill>
                <a:latin typeface="JetBrains Mono" pitchFamily="49" charset="0"/>
                <a:ea typeface="JetBrains Mono" pitchFamily="49" charset="-122"/>
                <a:cs typeface="JetBrains Mono" pitchFamily="49" charset="-120"/>
              </a:rPr>
              <a:t>POR CATEGORÍA</a:t>
            </a:r>
            <a:endParaRPr lang="en-US" sz="1200" dirty="0"/>
          </a:p>
        </p:txBody>
      </p:sp>
      <p:sp>
        <p:nvSpPr>
          <p:cNvPr id="26" name="Text 24"/>
          <p:cNvSpPr/>
          <p:nvPr/>
        </p:nvSpPr>
        <p:spPr>
          <a:xfrm>
            <a:off x="8202017" y="4164013"/>
            <a:ext cx="3056560" cy="47238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B2A4A"/>
                </a:solidFill>
                <a:latin typeface="IBM Plex Sans" pitchFamily="34" charset="0"/>
                <a:ea typeface="IBM Plex Sans" pitchFamily="34" charset="-122"/>
                <a:cs typeface="IBM Plex Sans" pitchFamily="34" charset="-120"/>
              </a:rPr>
              <a:t>21 %</a:t>
            </a:r>
            <a:endParaRPr lang="en-US" sz="3200" dirty="0"/>
          </a:p>
        </p:txBody>
      </p:sp>
      <p:sp>
        <p:nvSpPr>
          <p:cNvPr id="27" name="Text 25"/>
          <p:cNvSpPr/>
          <p:nvPr/>
        </p:nvSpPr>
        <p:spPr>
          <a:xfrm>
            <a:off x="8202017" y="4687193"/>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Beverages, 267.868 en ventas netas</a:t>
            </a:r>
            <a:endParaRPr lang="en-US" sz="1200" dirty="0"/>
          </a:p>
        </p:txBody>
      </p:sp>
      <p:sp>
        <p:nvSpPr>
          <p:cNvPr id="28" name="Text 26"/>
          <p:cNvSpPr/>
          <p:nvPr/>
        </p:nvSpPr>
        <p:spPr>
          <a:xfrm>
            <a:off x="812800" y="6236990"/>
            <a:ext cx="19303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Kent Foods DW · Fase 1</a:t>
            </a:r>
            <a:endParaRPr lang="en-US" sz="1200" dirty="0"/>
          </a:p>
        </p:txBody>
      </p:sp>
      <p:sp>
        <p:nvSpPr>
          <p:cNvPr id="29" name="Text 27"/>
          <p:cNvSpPr/>
          <p:nvPr/>
        </p:nvSpPr>
        <p:spPr>
          <a:xfrm>
            <a:off x="11145441" y="623699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85"/>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459E0"/>
                </a:solidFill>
                <a:latin typeface="JetBrains Mono" pitchFamily="49" charset="0"/>
                <a:ea typeface="JetBrains Mono" pitchFamily="49" charset="-122"/>
                <a:cs typeface="JetBrains Mono" pitchFamily="49" charset="-120"/>
              </a:rPr>
              <a:t>MODELO DIMENSIONAL</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A"/>
                </a:solidFill>
                <a:latin typeface="IBM Plex Sans" pitchFamily="34" charset="0"/>
                <a:ea typeface="IBM Plex Sans" pitchFamily="34" charset="-122"/>
                <a:cs typeface="IBM Plex Sans" pitchFamily="34" charset="-120"/>
              </a:rPr>
              <a:t>Los cuatro pasos de Kimball</a:t>
            </a:r>
            <a:endParaRPr lang="en-US" sz="3200" dirty="0"/>
          </a:p>
        </p:txBody>
      </p:sp>
      <p:sp>
        <p:nvSpPr>
          <p:cNvPr id="4" name="Shape 2"/>
          <p:cNvSpPr/>
          <p:nvPr/>
        </p:nvSpPr>
        <p:spPr>
          <a:xfrm>
            <a:off x="815975" y="1958876"/>
            <a:ext cx="2520950" cy="2185591"/>
          </a:xfrm>
          <a:prstGeom prst="roundRect">
            <a:avLst>
              <a:gd name="adj" fmla="val 3341"/>
            </a:avLst>
          </a:prstGeom>
          <a:solidFill>
            <a:srgbClr val="FEFEFF"/>
          </a:solidFill>
          <a:ln w="6350">
            <a:solidFill>
              <a:srgbClr val="D0DAEC"/>
            </a:solidFill>
            <a:prstDash val="solid"/>
          </a:ln>
        </p:spPr>
      </p:sp>
      <p:sp>
        <p:nvSpPr>
          <p:cNvPr id="5" name="Text 3"/>
          <p:cNvSpPr/>
          <p:nvPr/>
        </p:nvSpPr>
        <p:spPr>
          <a:xfrm>
            <a:off x="996950" y="2190651"/>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459E0"/>
                </a:solidFill>
                <a:latin typeface="JetBrains Mono" pitchFamily="49" charset="0"/>
                <a:ea typeface="JetBrains Mono" pitchFamily="49" charset="-122"/>
                <a:cs typeface="JetBrains Mono" pitchFamily="49" charset="-120"/>
              </a:rPr>
              <a:t>01</a:t>
            </a:r>
            <a:endParaRPr lang="en-US" sz="2000" dirty="0"/>
          </a:p>
        </p:txBody>
      </p:sp>
      <p:sp>
        <p:nvSpPr>
          <p:cNvPr id="6" name="Text 4"/>
          <p:cNvSpPr/>
          <p:nvPr/>
        </p:nvSpPr>
        <p:spPr>
          <a:xfrm>
            <a:off x="996950" y="267325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Proceso de negocio</a:t>
            </a:r>
            <a:endParaRPr lang="en-US" sz="1500" dirty="0"/>
          </a:p>
        </p:txBody>
      </p:sp>
      <p:sp>
        <p:nvSpPr>
          <p:cNvPr id="7" name="Text 5"/>
          <p:cNvSpPr/>
          <p:nvPr/>
        </p:nvSpPr>
        <p:spPr>
          <a:xfrm>
            <a:off x="996950" y="3028851"/>
            <a:ext cx="222377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B4660"/>
                </a:solidFill>
                <a:latin typeface="IBM Plex Sans" pitchFamily="34" charset="0"/>
                <a:ea typeface="IBM Plex Sans" pitchFamily="34" charset="-122"/>
                <a:cs typeface="IBM Plex Sans" pitchFamily="34" charset="-120"/>
              </a:rPr>
              <a:t>Las ventas de Kent Foods: cada orden de un cliente con sus productos.</a:t>
            </a:r>
            <a:endParaRPr lang="en-US" sz="1200" dirty="0"/>
          </a:p>
        </p:txBody>
      </p:sp>
      <p:sp>
        <p:nvSpPr>
          <p:cNvPr id="8" name="Shape 6"/>
          <p:cNvSpPr/>
          <p:nvPr/>
        </p:nvSpPr>
        <p:spPr>
          <a:xfrm>
            <a:off x="3495675" y="1958876"/>
            <a:ext cx="2520950" cy="2185591"/>
          </a:xfrm>
          <a:prstGeom prst="roundRect">
            <a:avLst>
              <a:gd name="adj" fmla="val 3341"/>
            </a:avLst>
          </a:prstGeom>
          <a:solidFill>
            <a:srgbClr val="FEFEFF"/>
          </a:solidFill>
          <a:ln w="6350">
            <a:solidFill>
              <a:srgbClr val="D0DAEC"/>
            </a:solidFill>
            <a:prstDash val="solid"/>
          </a:ln>
        </p:spPr>
      </p:sp>
      <p:sp>
        <p:nvSpPr>
          <p:cNvPr id="9" name="Text 7"/>
          <p:cNvSpPr/>
          <p:nvPr/>
        </p:nvSpPr>
        <p:spPr>
          <a:xfrm>
            <a:off x="3676650" y="2190651"/>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459E0"/>
                </a:solidFill>
                <a:latin typeface="JetBrains Mono" pitchFamily="49" charset="0"/>
                <a:ea typeface="JetBrains Mono" pitchFamily="49" charset="-122"/>
                <a:cs typeface="JetBrains Mono" pitchFamily="49" charset="-120"/>
              </a:rPr>
              <a:t>02</a:t>
            </a:r>
            <a:endParaRPr lang="en-US" sz="2000" dirty="0"/>
          </a:p>
        </p:txBody>
      </p:sp>
      <p:sp>
        <p:nvSpPr>
          <p:cNvPr id="10" name="Text 8"/>
          <p:cNvSpPr/>
          <p:nvPr/>
        </p:nvSpPr>
        <p:spPr>
          <a:xfrm>
            <a:off x="3676650" y="267325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Granularidad</a:t>
            </a:r>
            <a:endParaRPr lang="en-US" sz="1500" dirty="0"/>
          </a:p>
        </p:txBody>
      </p:sp>
      <p:sp>
        <p:nvSpPr>
          <p:cNvPr id="11" name="Text 9"/>
          <p:cNvSpPr/>
          <p:nvPr/>
        </p:nvSpPr>
        <p:spPr>
          <a:xfrm>
            <a:off x="3676650" y="3028851"/>
            <a:ext cx="222377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B4660"/>
                </a:solidFill>
                <a:latin typeface="IBM Plex Sans" pitchFamily="34" charset="0"/>
                <a:ea typeface="IBM Plex Sans" pitchFamily="34" charset="-122"/>
                <a:cs typeface="IBM Plex Sans" pitchFamily="34" charset="-120"/>
              </a:rPr>
              <a:t>Una fila por producto dentro de una orden, o sea una línea de DetalleOrden. Es el nivel más fino disponible.</a:t>
            </a:r>
            <a:endParaRPr lang="en-US" sz="1200" dirty="0"/>
          </a:p>
        </p:txBody>
      </p:sp>
      <p:sp>
        <p:nvSpPr>
          <p:cNvPr id="12" name="Shape 10"/>
          <p:cNvSpPr/>
          <p:nvPr/>
        </p:nvSpPr>
        <p:spPr>
          <a:xfrm>
            <a:off x="6175375" y="1958876"/>
            <a:ext cx="2520950" cy="2185591"/>
          </a:xfrm>
          <a:prstGeom prst="roundRect">
            <a:avLst>
              <a:gd name="adj" fmla="val 3341"/>
            </a:avLst>
          </a:prstGeom>
          <a:solidFill>
            <a:srgbClr val="FEFEFF"/>
          </a:solidFill>
          <a:ln w="6350">
            <a:solidFill>
              <a:srgbClr val="D0DAEC"/>
            </a:solidFill>
            <a:prstDash val="solid"/>
          </a:ln>
        </p:spPr>
      </p:sp>
      <p:sp>
        <p:nvSpPr>
          <p:cNvPr id="13" name="Text 11"/>
          <p:cNvSpPr/>
          <p:nvPr/>
        </p:nvSpPr>
        <p:spPr>
          <a:xfrm>
            <a:off x="6356350" y="2190651"/>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459E0"/>
                </a:solidFill>
                <a:latin typeface="JetBrains Mono" pitchFamily="49" charset="0"/>
                <a:ea typeface="JetBrains Mono" pitchFamily="49" charset="-122"/>
                <a:cs typeface="JetBrains Mono" pitchFamily="49" charset="-120"/>
              </a:rPr>
              <a:t>03</a:t>
            </a:r>
            <a:endParaRPr lang="en-US" sz="2000" dirty="0"/>
          </a:p>
        </p:txBody>
      </p:sp>
      <p:sp>
        <p:nvSpPr>
          <p:cNvPr id="14" name="Text 12"/>
          <p:cNvSpPr/>
          <p:nvPr/>
        </p:nvSpPr>
        <p:spPr>
          <a:xfrm>
            <a:off x="6356350" y="267325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Dimensiones</a:t>
            </a:r>
            <a:endParaRPr lang="en-US" sz="1500" dirty="0"/>
          </a:p>
        </p:txBody>
      </p:sp>
      <p:sp>
        <p:nvSpPr>
          <p:cNvPr id="15" name="Text 13"/>
          <p:cNvSpPr/>
          <p:nvPr/>
        </p:nvSpPr>
        <p:spPr>
          <a:xfrm>
            <a:off x="6356350" y="3028851"/>
            <a:ext cx="222377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B4660"/>
                </a:solidFill>
                <a:latin typeface="IBM Plex Sans" pitchFamily="34" charset="0"/>
                <a:ea typeface="IBM Plex Sans" pitchFamily="34" charset="-122"/>
                <a:cs typeface="IBM Plex Sans" pitchFamily="34" charset="-120"/>
              </a:rPr>
              <a:t>Tiempo (dos veces: orden y envío), Cliente, Producto, Empleado y Transportista.</a:t>
            </a:r>
            <a:endParaRPr lang="en-US" sz="1200" dirty="0"/>
          </a:p>
        </p:txBody>
      </p:sp>
      <p:sp>
        <p:nvSpPr>
          <p:cNvPr id="16" name="Shape 14"/>
          <p:cNvSpPr/>
          <p:nvPr/>
        </p:nvSpPr>
        <p:spPr>
          <a:xfrm>
            <a:off x="8855075" y="1958876"/>
            <a:ext cx="2520950" cy="2185591"/>
          </a:xfrm>
          <a:prstGeom prst="roundRect">
            <a:avLst>
              <a:gd name="adj" fmla="val 3341"/>
            </a:avLst>
          </a:prstGeom>
          <a:solidFill>
            <a:srgbClr val="FEFEFF"/>
          </a:solidFill>
          <a:ln w="6350">
            <a:solidFill>
              <a:srgbClr val="D0DAEC"/>
            </a:solidFill>
            <a:prstDash val="solid"/>
          </a:ln>
        </p:spPr>
      </p:sp>
      <p:sp>
        <p:nvSpPr>
          <p:cNvPr id="17" name="Text 15"/>
          <p:cNvSpPr/>
          <p:nvPr/>
        </p:nvSpPr>
        <p:spPr>
          <a:xfrm>
            <a:off x="9036050" y="2190651"/>
            <a:ext cx="22237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459E0"/>
                </a:solidFill>
                <a:latin typeface="JetBrains Mono" pitchFamily="49" charset="0"/>
                <a:ea typeface="JetBrains Mono" pitchFamily="49" charset="-122"/>
                <a:cs typeface="JetBrains Mono" pitchFamily="49" charset="-120"/>
              </a:rPr>
              <a:t>04</a:t>
            </a:r>
            <a:endParaRPr lang="en-US" sz="2000" dirty="0"/>
          </a:p>
        </p:txBody>
      </p:sp>
      <p:sp>
        <p:nvSpPr>
          <p:cNvPr id="18" name="Text 16"/>
          <p:cNvSpPr/>
          <p:nvPr/>
        </p:nvSpPr>
        <p:spPr>
          <a:xfrm>
            <a:off x="9036050" y="2673251"/>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Hechos y medidas</a:t>
            </a:r>
            <a:endParaRPr lang="en-US" sz="1500" dirty="0"/>
          </a:p>
        </p:txBody>
      </p:sp>
      <p:sp>
        <p:nvSpPr>
          <p:cNvPr id="19" name="Text 17"/>
          <p:cNvSpPr/>
          <p:nvPr/>
        </p:nvSpPr>
        <p:spPr>
          <a:xfrm>
            <a:off x="9036050" y="3028851"/>
            <a:ext cx="222377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B4660"/>
                </a:solidFill>
                <a:latin typeface="IBM Plex Sans" pitchFamily="34" charset="0"/>
                <a:ea typeface="IBM Plex Sans" pitchFamily="34" charset="-122"/>
                <a:cs typeface="IBM Plex Sans" pitchFamily="34" charset="-120"/>
              </a:rPr>
              <a:t>Fact_Detalle_Venta: Cantidad, PrecioUnitario, Descuento, MontoBruto, MontoDescuento, MontoNeto y DiasDespacho.</a:t>
            </a:r>
            <a:endParaRPr lang="en-US" sz="1200" dirty="0"/>
          </a:p>
        </p:txBody>
      </p:sp>
      <p:sp>
        <p:nvSpPr>
          <p:cNvPr id="20" name="Text 18"/>
          <p:cNvSpPr/>
          <p:nvPr/>
        </p:nvSpPr>
        <p:spPr>
          <a:xfrm>
            <a:off x="812800" y="6236990"/>
            <a:ext cx="19303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Kent Foods DW · Fase 1</a:t>
            </a:r>
            <a:endParaRPr lang="en-US" sz="1200" dirty="0"/>
          </a:p>
        </p:txBody>
      </p:sp>
      <p:sp>
        <p:nvSpPr>
          <p:cNvPr id="21" name="Text 19"/>
          <p:cNvSpPr/>
          <p:nvPr/>
        </p:nvSpPr>
        <p:spPr>
          <a:xfrm>
            <a:off x="11145441" y="623699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85"/>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459E0"/>
                </a:solidFill>
                <a:latin typeface="JetBrains Mono" pitchFamily="49" charset="0"/>
                <a:ea typeface="JetBrains Mono" pitchFamily="49" charset="-122"/>
                <a:cs typeface="JetBrains Mono" pitchFamily="49" charset="-120"/>
              </a:rPr>
              <a:t>MODELO DIMENSIONAL</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A"/>
                </a:solidFill>
                <a:latin typeface="IBM Plex Sans" pitchFamily="34" charset="0"/>
                <a:ea typeface="IBM Plex Sans" pitchFamily="34" charset="-122"/>
                <a:cs typeface="IBM Plex Sans" pitchFamily="34" charset="-120"/>
              </a:rPr>
              <a:t>Esquema estrella</a:t>
            </a:r>
            <a:endParaRPr lang="en-US" sz="3200" dirty="0"/>
          </a:p>
        </p:txBody>
      </p:sp>
      <p:pic>
        <p:nvPicPr>
          <p:cNvPr id="4" name="Image 0" descr="connector">    </p:cNvPr>
          <p:cNvPicPr>
            <a:picLocks noChangeAspect="1"/>
          </p:cNvPicPr>
          <p:nvPr/>
        </p:nvPicPr>
        <p:blipFill>
          <a:blip r:embed="rId1"/>
          <a:srcRect l="0" r="0" t="0" b="0"/>
          <a:stretch/>
        </p:blipFill>
        <p:spPr>
          <a:xfrm>
            <a:off x="3048000" y="2171700"/>
            <a:ext cx="1701800" cy="101600"/>
          </a:xfrm>
          <a:prstGeom prst="rect">
            <a:avLst/>
          </a:prstGeom>
        </p:spPr>
      </p:pic>
      <p:pic>
        <p:nvPicPr>
          <p:cNvPr id="5" name="Image 1" descr="connector">    </p:cNvPr>
          <p:cNvPicPr>
            <a:picLocks noChangeAspect="1"/>
          </p:cNvPicPr>
          <p:nvPr/>
        </p:nvPicPr>
        <p:blipFill>
          <a:blip r:embed="rId2"/>
          <a:srcRect l="0" r="0" t="0" b="0"/>
          <a:stretch/>
        </p:blipFill>
        <p:spPr>
          <a:xfrm>
            <a:off x="3048000" y="2679700"/>
            <a:ext cx="1701800" cy="101600"/>
          </a:xfrm>
          <a:prstGeom prst="rect">
            <a:avLst/>
          </a:prstGeom>
        </p:spPr>
      </p:pic>
      <p:pic>
        <p:nvPicPr>
          <p:cNvPr id="6" name="Image 2" descr="connector">    </p:cNvPr>
          <p:cNvPicPr>
            <a:picLocks noChangeAspect="1"/>
          </p:cNvPicPr>
          <p:nvPr/>
        </p:nvPicPr>
        <p:blipFill>
          <a:blip r:embed="rId3"/>
          <a:srcRect l="0" r="0" t="0" b="0"/>
          <a:stretch/>
        </p:blipFill>
        <p:spPr>
          <a:xfrm>
            <a:off x="7442200" y="2425700"/>
            <a:ext cx="1701800" cy="101600"/>
          </a:xfrm>
          <a:prstGeom prst="rect">
            <a:avLst/>
          </a:prstGeom>
        </p:spPr>
      </p:pic>
      <p:pic>
        <p:nvPicPr>
          <p:cNvPr id="7" name="Image 3" descr="connector">    </p:cNvPr>
          <p:cNvPicPr>
            <a:picLocks noChangeAspect="1"/>
          </p:cNvPicPr>
          <p:nvPr/>
        </p:nvPicPr>
        <p:blipFill>
          <a:blip r:embed="rId4"/>
          <a:srcRect l="0" r="0" t="0" b="0"/>
          <a:stretch/>
        </p:blipFill>
        <p:spPr>
          <a:xfrm>
            <a:off x="3048000" y="3695700"/>
            <a:ext cx="1701800" cy="1403350"/>
          </a:xfrm>
          <a:prstGeom prst="rect">
            <a:avLst/>
          </a:prstGeom>
        </p:spPr>
      </p:pic>
      <p:pic>
        <p:nvPicPr>
          <p:cNvPr id="8" name="Image 4" descr="connector">    </p:cNvPr>
          <p:cNvPicPr>
            <a:picLocks noChangeAspect="1"/>
          </p:cNvPicPr>
          <p:nvPr/>
        </p:nvPicPr>
        <p:blipFill>
          <a:blip r:embed="rId5"/>
          <a:srcRect l="0" r="0" t="0" b="0"/>
          <a:stretch/>
        </p:blipFill>
        <p:spPr>
          <a:xfrm>
            <a:off x="7442200" y="3695700"/>
            <a:ext cx="1701800" cy="1403350"/>
          </a:xfrm>
          <a:prstGeom prst="rect">
            <a:avLst/>
          </a:prstGeom>
        </p:spPr>
      </p:pic>
      <p:pic>
        <p:nvPicPr>
          <p:cNvPr id="9" name="Image 5" descr="connector">    </p:cNvPr>
          <p:cNvPicPr>
            <a:picLocks noChangeAspect="1"/>
          </p:cNvPicPr>
          <p:nvPr/>
        </p:nvPicPr>
        <p:blipFill>
          <a:blip r:embed="rId6"/>
          <a:srcRect l="0" r="0" t="0" b="0"/>
          <a:stretch/>
        </p:blipFill>
        <p:spPr>
          <a:xfrm>
            <a:off x="6045200" y="4013200"/>
            <a:ext cx="101600" cy="863600"/>
          </a:xfrm>
          <a:prstGeom prst="rect">
            <a:avLst/>
          </a:prstGeom>
        </p:spPr>
      </p:pic>
      <p:sp>
        <p:nvSpPr>
          <p:cNvPr id="10" name="Text 2"/>
          <p:cNvSpPr/>
          <p:nvPr/>
        </p:nvSpPr>
        <p:spPr>
          <a:xfrm>
            <a:off x="3175000" y="1930400"/>
            <a:ext cx="1511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7D63"/>
                </a:solidFill>
                <a:latin typeface="JetBrains Mono" pitchFamily="49" charset="0"/>
                <a:ea typeface="JetBrains Mono" pitchFamily="49" charset="-122"/>
                <a:cs typeface="JetBrains Mono" pitchFamily="49" charset="-120"/>
              </a:rPr>
              <a:t>orden</a:t>
            </a:r>
            <a:endParaRPr lang="en-US" sz="1200" dirty="0"/>
          </a:p>
        </p:txBody>
      </p:sp>
      <p:sp>
        <p:nvSpPr>
          <p:cNvPr id="11" name="Text 3"/>
          <p:cNvSpPr/>
          <p:nvPr/>
        </p:nvSpPr>
        <p:spPr>
          <a:xfrm>
            <a:off x="3175000" y="2794000"/>
            <a:ext cx="1511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7D63"/>
                </a:solidFill>
                <a:latin typeface="JetBrains Mono" pitchFamily="49" charset="0"/>
                <a:ea typeface="JetBrains Mono" pitchFamily="49" charset="-122"/>
                <a:cs typeface="JetBrains Mono" pitchFamily="49" charset="-120"/>
              </a:rPr>
              <a:t>envío (NULL)</a:t>
            </a:r>
            <a:endParaRPr lang="en-US" sz="1200" dirty="0"/>
          </a:p>
        </p:txBody>
      </p:sp>
      <p:sp>
        <p:nvSpPr>
          <p:cNvPr id="12" name="Shape 4"/>
          <p:cNvSpPr/>
          <p:nvPr/>
        </p:nvSpPr>
        <p:spPr>
          <a:xfrm>
            <a:off x="4699000" y="1778000"/>
            <a:ext cx="2794000" cy="2286000"/>
          </a:xfrm>
          <a:prstGeom prst="roundRect">
            <a:avLst>
              <a:gd name="adj" fmla="val 3889"/>
            </a:avLst>
          </a:prstGeom>
          <a:solidFill>
            <a:srgbClr val="2459E0"/>
          </a:solidFill>
          <a:ln/>
          <a:effectLst>
            <a:outerShdw sx="100000" sy="100000" kx="0" ky="0" algn="bl" rotWithShape="0" blurRad="203200" dist="76200" dir="5400000">
              <a:srgbClr val="14213D">
                <a:alpha val="25000"/>
              </a:srgbClr>
            </a:outerShdw>
          </a:effectLst>
        </p:spPr>
      </p:sp>
      <p:sp>
        <p:nvSpPr>
          <p:cNvPr id="13" name="Text 5"/>
          <p:cNvSpPr/>
          <p:nvPr/>
        </p:nvSpPr>
        <p:spPr>
          <a:xfrm>
            <a:off x="4851400" y="1930400"/>
            <a:ext cx="25638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9FF"/>
                </a:solidFill>
                <a:latin typeface="JetBrains Mono" pitchFamily="49" charset="0"/>
                <a:ea typeface="JetBrains Mono" pitchFamily="49" charset="-122"/>
                <a:cs typeface="JetBrains Mono" pitchFamily="49" charset="-120"/>
              </a:rPr>
              <a:t>Fact_Detalle_Venta</a:t>
            </a:r>
            <a:endParaRPr lang="en-US" sz="1500" dirty="0"/>
          </a:p>
        </p:txBody>
      </p:sp>
      <p:sp>
        <p:nvSpPr>
          <p:cNvPr id="14" name="Text 6"/>
          <p:cNvSpPr/>
          <p:nvPr/>
        </p:nvSpPr>
        <p:spPr>
          <a:xfrm>
            <a:off x="4851400" y="222250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F"/>
                </a:solidFill>
                <a:latin typeface="IBM Plex Sans" pitchFamily="34" charset="0"/>
                <a:ea typeface="IBM Plex Sans" pitchFamily="34" charset="-122"/>
                <a:cs typeface="IBM Plex Sans" pitchFamily="34" charset="-120"/>
              </a:rPr>
              <a:t>PK: OrdenID + ProductoKey</a:t>
            </a:r>
            <a:endParaRPr lang="en-US" sz="1200" dirty="0"/>
          </a:p>
        </p:txBody>
      </p:sp>
      <p:sp>
        <p:nvSpPr>
          <p:cNvPr id="15" name="Text 7"/>
          <p:cNvSpPr/>
          <p:nvPr/>
        </p:nvSpPr>
        <p:spPr>
          <a:xfrm>
            <a:off x="4851400" y="2499320"/>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F"/>
                </a:solidFill>
                <a:latin typeface="IBM Plex Sans" pitchFamily="34" charset="0"/>
                <a:ea typeface="IBM Plex Sans" pitchFamily="34" charset="-122"/>
                <a:cs typeface="IBM Plex Sans" pitchFamily="34" charset="-120"/>
              </a:rPr>
              <a:t>6 FK a las dimensiones</a:t>
            </a:r>
            <a:endParaRPr lang="en-US" sz="1200" dirty="0"/>
          </a:p>
        </p:txBody>
      </p:sp>
      <p:sp>
        <p:nvSpPr>
          <p:cNvPr id="16" name="Text 8"/>
          <p:cNvSpPr/>
          <p:nvPr/>
        </p:nvSpPr>
        <p:spPr>
          <a:xfrm>
            <a:off x="4851400" y="27761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D166"/>
                </a:solidFill>
                <a:latin typeface="JetBrains Mono" pitchFamily="49" charset="0"/>
                <a:ea typeface="JetBrains Mono" pitchFamily="49" charset="-122"/>
                <a:cs typeface="JetBrains Mono" pitchFamily="49" charset="-120"/>
              </a:rPr>
              <a:t>MEDIDAS</a:t>
            </a:r>
            <a:endParaRPr lang="en-US" sz="1200" dirty="0"/>
          </a:p>
        </p:txBody>
      </p:sp>
      <p:sp>
        <p:nvSpPr>
          <p:cNvPr id="17" name="Text 9"/>
          <p:cNvSpPr/>
          <p:nvPr/>
        </p:nvSpPr>
        <p:spPr>
          <a:xfrm>
            <a:off x="4851400" y="3052961"/>
            <a:ext cx="2563876"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9FF"/>
                </a:solidFill>
                <a:latin typeface="IBM Plex Sans" pitchFamily="34" charset="0"/>
                <a:ea typeface="IBM Plex Sans" pitchFamily="34" charset="-122"/>
                <a:cs typeface="IBM Plex Sans" pitchFamily="34" charset="-120"/>
              </a:rPr>
              <a:t>Cantidad · PrecioUnitario · Descuento · MontoBruto · MontoDescuento · MontoNeto · DiasDespacho</a:t>
            </a:r>
            <a:endParaRPr lang="en-US" sz="1200" dirty="0"/>
          </a:p>
        </p:txBody>
      </p:sp>
      <p:sp>
        <p:nvSpPr>
          <p:cNvPr id="18" name="Shape 10"/>
          <p:cNvSpPr/>
          <p:nvPr/>
        </p:nvSpPr>
        <p:spPr>
          <a:xfrm>
            <a:off x="819150" y="1784350"/>
            <a:ext cx="2273300" cy="1320800"/>
          </a:xfrm>
          <a:prstGeom prst="roundRect">
            <a:avLst>
              <a:gd name="adj" fmla="val 6250"/>
            </a:avLst>
          </a:prstGeom>
          <a:solidFill>
            <a:srgbClr val="FEFEFF"/>
          </a:solidFill>
          <a:ln w="12700">
            <a:solidFill>
              <a:srgbClr val="BFD0F5"/>
            </a:solidFill>
            <a:prstDash val="solid"/>
          </a:ln>
        </p:spPr>
      </p:sp>
      <p:sp>
        <p:nvSpPr>
          <p:cNvPr id="19" name="Text 11"/>
          <p:cNvSpPr/>
          <p:nvPr/>
        </p:nvSpPr>
        <p:spPr>
          <a:xfrm>
            <a:off x="977900" y="1943100"/>
            <a:ext cx="20144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JetBrains Mono" pitchFamily="49" charset="0"/>
                <a:ea typeface="JetBrains Mono" pitchFamily="49" charset="-122"/>
                <a:cs typeface="JetBrains Mono" pitchFamily="49" charset="-120"/>
              </a:rPr>
              <a:t>Dim_Tiempo</a:t>
            </a:r>
            <a:endParaRPr lang="en-US" sz="1500" dirty="0"/>
          </a:p>
        </p:txBody>
      </p:sp>
      <p:sp>
        <p:nvSpPr>
          <p:cNvPr id="20" name="Text 12"/>
          <p:cNvSpPr/>
          <p:nvPr/>
        </p:nvSpPr>
        <p:spPr>
          <a:xfrm>
            <a:off x="977900" y="22225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PK FechaKey (AAAAMMDD)</a:t>
            </a:r>
            <a:endParaRPr lang="en-US" sz="1200" dirty="0"/>
          </a:p>
        </p:txBody>
      </p:sp>
      <p:sp>
        <p:nvSpPr>
          <p:cNvPr id="21" name="Text 13"/>
          <p:cNvSpPr/>
          <p:nvPr/>
        </p:nvSpPr>
        <p:spPr>
          <a:xfrm>
            <a:off x="977900" y="248662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Año › Trimestre › Mes › Día</a:t>
            </a:r>
            <a:endParaRPr lang="en-US" sz="1200" dirty="0"/>
          </a:p>
        </p:txBody>
      </p:sp>
      <p:sp>
        <p:nvSpPr>
          <p:cNvPr id="22" name="Shape 14"/>
          <p:cNvSpPr/>
          <p:nvPr/>
        </p:nvSpPr>
        <p:spPr>
          <a:xfrm>
            <a:off x="9099550" y="1784350"/>
            <a:ext cx="2273300" cy="1320800"/>
          </a:xfrm>
          <a:prstGeom prst="roundRect">
            <a:avLst>
              <a:gd name="adj" fmla="val 6250"/>
            </a:avLst>
          </a:prstGeom>
          <a:solidFill>
            <a:srgbClr val="FEFEFF"/>
          </a:solidFill>
          <a:ln w="12700">
            <a:solidFill>
              <a:srgbClr val="BFD0F5"/>
            </a:solidFill>
            <a:prstDash val="solid"/>
          </a:ln>
        </p:spPr>
      </p:sp>
      <p:sp>
        <p:nvSpPr>
          <p:cNvPr id="23" name="Text 15"/>
          <p:cNvSpPr/>
          <p:nvPr/>
        </p:nvSpPr>
        <p:spPr>
          <a:xfrm>
            <a:off x="9258300" y="1943100"/>
            <a:ext cx="20144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JetBrains Mono" pitchFamily="49" charset="0"/>
                <a:ea typeface="JetBrains Mono" pitchFamily="49" charset="-122"/>
                <a:cs typeface="JetBrains Mono" pitchFamily="49" charset="-120"/>
              </a:rPr>
              <a:t>Dim_Cliente</a:t>
            </a:r>
            <a:endParaRPr lang="en-US" sz="1500" dirty="0"/>
          </a:p>
        </p:txBody>
      </p:sp>
      <p:sp>
        <p:nvSpPr>
          <p:cNvPr id="24" name="Text 16"/>
          <p:cNvSpPr/>
          <p:nvPr/>
        </p:nvSpPr>
        <p:spPr>
          <a:xfrm>
            <a:off x="9258300" y="22225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PK ClienteKey</a:t>
            </a:r>
            <a:endParaRPr lang="en-US" sz="1200" dirty="0"/>
          </a:p>
        </p:txBody>
      </p:sp>
      <p:sp>
        <p:nvSpPr>
          <p:cNvPr id="25" name="Text 17"/>
          <p:cNvSpPr/>
          <p:nvPr/>
        </p:nvSpPr>
        <p:spPr>
          <a:xfrm>
            <a:off x="9258300" y="248662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Empresa, Ciudad, País</a:t>
            </a:r>
            <a:endParaRPr lang="en-US" sz="1200" dirty="0"/>
          </a:p>
        </p:txBody>
      </p:sp>
      <p:sp>
        <p:nvSpPr>
          <p:cNvPr id="26" name="Shape 18"/>
          <p:cNvSpPr/>
          <p:nvPr/>
        </p:nvSpPr>
        <p:spPr>
          <a:xfrm>
            <a:off x="819150" y="4387850"/>
            <a:ext cx="2273300" cy="1320800"/>
          </a:xfrm>
          <a:prstGeom prst="roundRect">
            <a:avLst>
              <a:gd name="adj" fmla="val 6250"/>
            </a:avLst>
          </a:prstGeom>
          <a:solidFill>
            <a:srgbClr val="FEFEFF"/>
          </a:solidFill>
          <a:ln w="12700">
            <a:solidFill>
              <a:srgbClr val="BFD0F5"/>
            </a:solidFill>
            <a:prstDash val="solid"/>
          </a:ln>
        </p:spPr>
      </p:sp>
      <p:sp>
        <p:nvSpPr>
          <p:cNvPr id="27" name="Text 19"/>
          <p:cNvSpPr/>
          <p:nvPr/>
        </p:nvSpPr>
        <p:spPr>
          <a:xfrm>
            <a:off x="977900" y="4546600"/>
            <a:ext cx="20144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JetBrains Mono" pitchFamily="49" charset="0"/>
                <a:ea typeface="JetBrains Mono" pitchFamily="49" charset="-122"/>
                <a:cs typeface="JetBrains Mono" pitchFamily="49" charset="-120"/>
              </a:rPr>
              <a:t>Dim_Producto</a:t>
            </a:r>
            <a:endParaRPr lang="en-US" sz="1500" dirty="0"/>
          </a:p>
        </p:txBody>
      </p:sp>
      <p:sp>
        <p:nvSpPr>
          <p:cNvPr id="28" name="Text 20"/>
          <p:cNvSpPr/>
          <p:nvPr/>
        </p:nvSpPr>
        <p:spPr>
          <a:xfrm>
            <a:off x="977900" y="48260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PK ProductoKey</a:t>
            </a:r>
            <a:endParaRPr lang="en-US" sz="1200" dirty="0"/>
          </a:p>
        </p:txBody>
      </p:sp>
      <p:sp>
        <p:nvSpPr>
          <p:cNvPr id="29" name="Text 21"/>
          <p:cNvSpPr/>
          <p:nvPr/>
        </p:nvSpPr>
        <p:spPr>
          <a:xfrm>
            <a:off x="977900" y="5090120"/>
            <a:ext cx="20144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Categoría › Producto, Proveedor</a:t>
            </a:r>
            <a:endParaRPr lang="en-US" sz="1200" dirty="0"/>
          </a:p>
        </p:txBody>
      </p:sp>
      <p:sp>
        <p:nvSpPr>
          <p:cNvPr id="30" name="Shape 22"/>
          <p:cNvSpPr/>
          <p:nvPr/>
        </p:nvSpPr>
        <p:spPr>
          <a:xfrm>
            <a:off x="9099550" y="4387850"/>
            <a:ext cx="2273300" cy="1320800"/>
          </a:xfrm>
          <a:prstGeom prst="roundRect">
            <a:avLst>
              <a:gd name="adj" fmla="val 6250"/>
            </a:avLst>
          </a:prstGeom>
          <a:solidFill>
            <a:srgbClr val="FEFEFF"/>
          </a:solidFill>
          <a:ln w="12700">
            <a:solidFill>
              <a:srgbClr val="BFD0F5"/>
            </a:solidFill>
            <a:prstDash val="solid"/>
          </a:ln>
        </p:spPr>
      </p:sp>
      <p:sp>
        <p:nvSpPr>
          <p:cNvPr id="31" name="Text 23"/>
          <p:cNvSpPr/>
          <p:nvPr/>
        </p:nvSpPr>
        <p:spPr>
          <a:xfrm>
            <a:off x="9258300" y="4546600"/>
            <a:ext cx="201447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JetBrains Mono" pitchFamily="49" charset="0"/>
                <a:ea typeface="JetBrains Mono" pitchFamily="49" charset="-122"/>
                <a:cs typeface="JetBrains Mono" pitchFamily="49" charset="-120"/>
              </a:rPr>
              <a:t>Dim_Empleado</a:t>
            </a:r>
            <a:endParaRPr lang="en-US" sz="1500" dirty="0"/>
          </a:p>
        </p:txBody>
      </p:sp>
      <p:sp>
        <p:nvSpPr>
          <p:cNvPr id="32" name="Text 24"/>
          <p:cNvSpPr/>
          <p:nvPr/>
        </p:nvSpPr>
        <p:spPr>
          <a:xfrm>
            <a:off x="9258300" y="482600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PK EmpleadoKey</a:t>
            </a:r>
            <a:endParaRPr lang="en-US" sz="1200" dirty="0"/>
          </a:p>
        </p:txBody>
      </p:sp>
      <p:sp>
        <p:nvSpPr>
          <p:cNvPr id="33" name="Text 25"/>
          <p:cNvSpPr/>
          <p:nvPr/>
        </p:nvSpPr>
        <p:spPr>
          <a:xfrm>
            <a:off x="9258300" y="509012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Región › Empleado, Cargo</a:t>
            </a:r>
            <a:endParaRPr lang="en-US" sz="1200" dirty="0"/>
          </a:p>
        </p:txBody>
      </p:sp>
      <p:sp>
        <p:nvSpPr>
          <p:cNvPr id="34" name="Shape 26"/>
          <p:cNvSpPr/>
          <p:nvPr/>
        </p:nvSpPr>
        <p:spPr>
          <a:xfrm>
            <a:off x="4832350" y="4832350"/>
            <a:ext cx="2527300" cy="939800"/>
          </a:xfrm>
          <a:prstGeom prst="roundRect">
            <a:avLst>
              <a:gd name="adj" fmla="val 8784"/>
            </a:avLst>
          </a:prstGeom>
          <a:solidFill>
            <a:srgbClr val="FEFEFF"/>
          </a:solidFill>
          <a:ln w="12700">
            <a:solidFill>
              <a:srgbClr val="BFD0F5"/>
            </a:solidFill>
            <a:prstDash val="solid"/>
          </a:ln>
        </p:spPr>
      </p:sp>
      <p:sp>
        <p:nvSpPr>
          <p:cNvPr id="35" name="Text 27"/>
          <p:cNvSpPr/>
          <p:nvPr/>
        </p:nvSpPr>
        <p:spPr>
          <a:xfrm>
            <a:off x="4991100" y="4991100"/>
            <a:ext cx="22760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JetBrains Mono" pitchFamily="49" charset="0"/>
                <a:ea typeface="JetBrains Mono" pitchFamily="49" charset="-122"/>
                <a:cs typeface="JetBrains Mono" pitchFamily="49" charset="-120"/>
              </a:rPr>
              <a:t>Dim_Transportista</a:t>
            </a:r>
            <a:endParaRPr lang="en-US" sz="1500" dirty="0"/>
          </a:p>
        </p:txBody>
      </p:sp>
      <p:sp>
        <p:nvSpPr>
          <p:cNvPr id="36" name="Text 28"/>
          <p:cNvSpPr/>
          <p:nvPr/>
        </p:nvSpPr>
        <p:spPr>
          <a:xfrm>
            <a:off x="4991100" y="5270500"/>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PK TransportistaKey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459E0"/>
                </a:solidFill>
                <a:latin typeface="JetBrains Mono" pitchFamily="49" charset="0"/>
                <a:ea typeface="JetBrains Mono" pitchFamily="49" charset="-122"/>
                <a:cs typeface="JetBrains Mono" pitchFamily="49" charset="-120"/>
              </a:rPr>
              <a:t>MODELO DIMENSIONAL</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A"/>
                </a:solidFill>
                <a:latin typeface="IBM Plex Sans" pitchFamily="34" charset="0"/>
                <a:ea typeface="IBM Plex Sans" pitchFamily="34" charset="-122"/>
                <a:cs typeface="IBM Plex Sans" pitchFamily="34" charset="-120"/>
              </a:rPr>
              <a:t>Decisiones de diseño</a:t>
            </a:r>
            <a:endParaRPr lang="en-US" sz="3200" dirty="0"/>
          </a:p>
        </p:txBody>
      </p:sp>
      <p:sp>
        <p:nvSpPr>
          <p:cNvPr id="4" name="Shape 2"/>
          <p:cNvSpPr/>
          <p:nvPr/>
        </p:nvSpPr>
        <p:spPr>
          <a:xfrm>
            <a:off x="815975" y="1857276"/>
            <a:ext cx="3380284" cy="1357511"/>
          </a:xfrm>
          <a:prstGeom prst="roundRect">
            <a:avLst>
              <a:gd name="adj" fmla="val 5379"/>
            </a:avLst>
          </a:prstGeom>
          <a:solidFill>
            <a:srgbClr val="FEFEFF"/>
          </a:solidFill>
          <a:ln w="6350">
            <a:solidFill>
              <a:srgbClr val="DCE3F0"/>
            </a:solidFill>
            <a:prstDash val="solid"/>
          </a:ln>
        </p:spPr>
      </p:sp>
      <p:sp>
        <p:nvSpPr>
          <p:cNvPr id="5" name="Text 3"/>
          <p:cNvSpPr/>
          <p:nvPr/>
        </p:nvSpPr>
        <p:spPr>
          <a:xfrm>
            <a:off x="1022350" y="2063651"/>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Claves sustitutas</a:t>
            </a:r>
            <a:endParaRPr lang="en-US" sz="1500" dirty="0"/>
          </a:p>
        </p:txBody>
      </p:sp>
      <p:sp>
        <p:nvSpPr>
          <p:cNvPr id="6" name="Text 4"/>
          <p:cNvSpPr/>
          <p:nvPr/>
        </p:nvSpPr>
        <p:spPr>
          <a:xfrm>
            <a:off x="1022350" y="2368451"/>
            <a:ext cx="30565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Cada dimensión tiene su propia clave INT IDENTITY. El DW no depende de cómo numera el origen.</a:t>
            </a:r>
            <a:endParaRPr lang="en-US" sz="1200" dirty="0"/>
          </a:p>
        </p:txBody>
      </p:sp>
      <p:sp>
        <p:nvSpPr>
          <p:cNvPr id="7" name="Shape 5"/>
          <p:cNvSpPr/>
          <p:nvPr/>
        </p:nvSpPr>
        <p:spPr>
          <a:xfrm>
            <a:off x="4405809" y="1857276"/>
            <a:ext cx="3380284" cy="1357511"/>
          </a:xfrm>
          <a:prstGeom prst="roundRect">
            <a:avLst>
              <a:gd name="adj" fmla="val 5379"/>
            </a:avLst>
          </a:prstGeom>
          <a:solidFill>
            <a:srgbClr val="FEFEFF"/>
          </a:solidFill>
          <a:ln w="6350">
            <a:solidFill>
              <a:srgbClr val="DCE3F0"/>
            </a:solidFill>
            <a:prstDash val="solid"/>
          </a:ln>
        </p:spPr>
      </p:sp>
      <p:sp>
        <p:nvSpPr>
          <p:cNvPr id="8" name="Text 6"/>
          <p:cNvSpPr/>
          <p:nvPr/>
        </p:nvSpPr>
        <p:spPr>
          <a:xfrm>
            <a:off x="4612184" y="2063651"/>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Clave de negocio</a:t>
            </a:r>
            <a:endParaRPr lang="en-US" sz="1500" dirty="0"/>
          </a:p>
        </p:txBody>
      </p:sp>
      <p:sp>
        <p:nvSpPr>
          <p:cNvPr id="9" name="Text 7"/>
          <p:cNvSpPr/>
          <p:nvPr/>
        </p:nvSpPr>
        <p:spPr>
          <a:xfrm>
            <a:off x="4612184" y="2368451"/>
            <a:ext cx="30565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El ID original se guarda con UNIQUE. El ETL busca por ese ID la clave sustituta (Lookup).</a:t>
            </a:r>
            <a:endParaRPr lang="en-US" sz="1200" dirty="0"/>
          </a:p>
        </p:txBody>
      </p:sp>
      <p:sp>
        <p:nvSpPr>
          <p:cNvPr id="10" name="Shape 8"/>
          <p:cNvSpPr/>
          <p:nvPr/>
        </p:nvSpPr>
        <p:spPr>
          <a:xfrm>
            <a:off x="7995642" y="1857276"/>
            <a:ext cx="3380284" cy="1357511"/>
          </a:xfrm>
          <a:prstGeom prst="roundRect">
            <a:avLst>
              <a:gd name="adj" fmla="val 5379"/>
            </a:avLst>
          </a:prstGeom>
          <a:solidFill>
            <a:srgbClr val="FEFEFF"/>
          </a:solidFill>
          <a:ln w="6350">
            <a:solidFill>
              <a:srgbClr val="DCE3F0"/>
            </a:solidFill>
            <a:prstDash val="solid"/>
          </a:ln>
        </p:spPr>
      </p:sp>
      <p:sp>
        <p:nvSpPr>
          <p:cNvPr id="11" name="Text 9"/>
          <p:cNvSpPr/>
          <p:nvPr/>
        </p:nvSpPr>
        <p:spPr>
          <a:xfrm>
            <a:off x="8202017" y="2063651"/>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Tiempo en AAAAMMDD</a:t>
            </a:r>
            <a:endParaRPr lang="en-US" sz="1500" dirty="0"/>
          </a:p>
        </p:txBody>
      </p:sp>
      <p:sp>
        <p:nvSpPr>
          <p:cNvPr id="12" name="Text 10"/>
          <p:cNvSpPr/>
          <p:nvPr/>
        </p:nvSpPr>
        <p:spPr>
          <a:xfrm>
            <a:off x="8202017" y="2368451"/>
            <a:ext cx="30565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Calendario continuo 2016–2018 (1.096 días), con AnioMes y AnioTrimestre para la jerarquía del cubo.</a:t>
            </a:r>
            <a:endParaRPr lang="en-US" sz="1200" dirty="0"/>
          </a:p>
        </p:txBody>
      </p:sp>
      <p:sp>
        <p:nvSpPr>
          <p:cNvPr id="13" name="Shape 11"/>
          <p:cNvSpPr/>
          <p:nvPr/>
        </p:nvSpPr>
        <p:spPr>
          <a:xfrm>
            <a:off x="815975" y="3424337"/>
            <a:ext cx="3380284" cy="1357511"/>
          </a:xfrm>
          <a:prstGeom prst="roundRect">
            <a:avLst>
              <a:gd name="adj" fmla="val 5379"/>
            </a:avLst>
          </a:prstGeom>
          <a:solidFill>
            <a:srgbClr val="FEFEFF"/>
          </a:solidFill>
          <a:ln w="6350">
            <a:solidFill>
              <a:srgbClr val="DCE3F0"/>
            </a:solidFill>
            <a:prstDash val="solid"/>
          </a:ln>
        </p:spPr>
      </p:sp>
      <p:sp>
        <p:nvSpPr>
          <p:cNvPr id="14" name="Text 12"/>
          <p:cNvSpPr/>
          <p:nvPr/>
        </p:nvSpPr>
        <p:spPr>
          <a:xfrm>
            <a:off x="1022350" y="3630712"/>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OrdenID degenerada</a:t>
            </a:r>
            <a:endParaRPr lang="en-US" sz="1500" dirty="0"/>
          </a:p>
        </p:txBody>
      </p:sp>
      <p:sp>
        <p:nvSpPr>
          <p:cNvPr id="15" name="Text 13"/>
          <p:cNvSpPr/>
          <p:nvPr/>
        </p:nvSpPr>
        <p:spPr>
          <a:xfrm>
            <a:off x="1022350" y="3935512"/>
            <a:ext cx="30565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Vive en el hecho sin tabla propia. Sirve para contar órdenes y calcular el ticket promedio.</a:t>
            </a:r>
            <a:endParaRPr lang="en-US" sz="1200" dirty="0"/>
          </a:p>
        </p:txBody>
      </p:sp>
      <p:sp>
        <p:nvSpPr>
          <p:cNvPr id="16" name="Shape 14"/>
          <p:cNvSpPr/>
          <p:nvPr/>
        </p:nvSpPr>
        <p:spPr>
          <a:xfrm>
            <a:off x="4405809" y="3424337"/>
            <a:ext cx="3380284" cy="1357511"/>
          </a:xfrm>
          <a:prstGeom prst="roundRect">
            <a:avLst>
              <a:gd name="adj" fmla="val 5379"/>
            </a:avLst>
          </a:prstGeom>
          <a:solidFill>
            <a:srgbClr val="FEFEFF"/>
          </a:solidFill>
          <a:ln w="6350">
            <a:solidFill>
              <a:srgbClr val="DCE3F0"/>
            </a:solidFill>
            <a:prstDash val="solid"/>
          </a:ln>
        </p:spPr>
      </p:sp>
      <p:sp>
        <p:nvSpPr>
          <p:cNvPr id="17" name="Text 15"/>
          <p:cNvSpPr/>
          <p:nvPr/>
        </p:nvSpPr>
        <p:spPr>
          <a:xfrm>
            <a:off x="4612184" y="3630712"/>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Estrella, no copo</a:t>
            </a:r>
            <a:endParaRPr lang="en-US" sz="1500" dirty="0"/>
          </a:p>
        </p:txBody>
      </p:sp>
      <p:sp>
        <p:nvSpPr>
          <p:cNvPr id="18" name="Text 16"/>
          <p:cNvSpPr/>
          <p:nvPr/>
        </p:nvSpPr>
        <p:spPr>
          <a:xfrm>
            <a:off x="4612184" y="3935512"/>
            <a:ext cx="305656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Categoría y Proveedor van dentro de Dim_Producto, y Región dentro de Dim_Empleado. Menos joins.</a:t>
            </a:r>
            <a:endParaRPr lang="en-US" sz="1200" dirty="0"/>
          </a:p>
        </p:txBody>
      </p:sp>
      <p:sp>
        <p:nvSpPr>
          <p:cNvPr id="19" name="Shape 17"/>
          <p:cNvSpPr/>
          <p:nvPr/>
        </p:nvSpPr>
        <p:spPr>
          <a:xfrm>
            <a:off x="7995642" y="3424337"/>
            <a:ext cx="3380284" cy="1357511"/>
          </a:xfrm>
          <a:prstGeom prst="roundRect">
            <a:avLst>
              <a:gd name="adj" fmla="val 5379"/>
            </a:avLst>
          </a:prstGeom>
          <a:solidFill>
            <a:srgbClr val="FEFEFF"/>
          </a:solidFill>
          <a:ln w="6350">
            <a:solidFill>
              <a:srgbClr val="DCE3F0"/>
            </a:solidFill>
            <a:prstDash val="solid"/>
          </a:ln>
        </p:spPr>
      </p:sp>
      <p:sp>
        <p:nvSpPr>
          <p:cNvPr id="20" name="Text 18"/>
          <p:cNvSpPr/>
          <p:nvPr/>
        </p:nvSpPr>
        <p:spPr>
          <a:xfrm>
            <a:off x="8202017" y="3630712"/>
            <a:ext cx="30565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Precio histórico</a:t>
            </a:r>
            <a:endParaRPr lang="en-US" sz="1500" dirty="0"/>
          </a:p>
        </p:txBody>
      </p:sp>
      <p:sp>
        <p:nvSpPr>
          <p:cNvPr id="21" name="Text 19"/>
          <p:cNvSpPr/>
          <p:nvPr/>
        </p:nvSpPr>
        <p:spPr>
          <a:xfrm>
            <a:off x="8202017" y="3935512"/>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Se usa el precio de DetalleOrden, no el de Productos.</a:t>
            </a:r>
            <a:endParaRPr lang="en-US" sz="1200" dirty="0"/>
          </a:p>
        </p:txBody>
      </p:sp>
      <p:sp>
        <p:nvSpPr>
          <p:cNvPr id="22" name="Text 20"/>
          <p:cNvSpPr/>
          <p:nvPr/>
        </p:nvSpPr>
        <p:spPr>
          <a:xfrm>
            <a:off x="812800" y="6236990"/>
            <a:ext cx="19303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Kent Foods DW · Fase 1</a:t>
            </a:r>
            <a:endParaRPr lang="en-US" sz="1200" dirty="0"/>
          </a:p>
        </p:txBody>
      </p:sp>
      <p:sp>
        <p:nvSpPr>
          <p:cNvPr id="23" name="Text 21"/>
          <p:cNvSpPr/>
          <p:nvPr/>
        </p:nvSpPr>
        <p:spPr>
          <a:xfrm>
            <a:off x="11145441" y="623699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85"/>
                </a:solidFill>
                <a:latin typeface="JetBrains Mono" pitchFamily="49" charset="0"/>
                <a:ea typeface="JetBrains Mono" pitchFamily="49" charset="-122"/>
                <a:cs typeface="JetBrains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459E0"/>
        </a:solidFill>
      </p:bgPr>
    </p:bg>
    <p:spTree>
      <p:nvGrpSpPr>
        <p:cNvPr id="1" name=""/>
        <p:cNvGrpSpPr/>
        <p:nvPr/>
      </p:nvGrpSpPr>
      <p:grpSpPr>
        <a:xfrm>
          <a:off x="0" y="0"/>
          <a:ext cx="0" cy="0"/>
          <a:chOff x="0" y="0"/>
          <a:chExt cx="0" cy="0"/>
        </a:xfrm>
      </p:grpSpPr>
      <p:sp>
        <p:nvSpPr>
          <p:cNvPr id="2" name="Text 0"/>
          <p:cNvSpPr/>
          <p:nvPr/>
        </p:nvSpPr>
        <p:spPr>
          <a:xfrm>
            <a:off x="812800" y="6236990"/>
            <a:ext cx="19303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1FF"/>
                </a:solidFill>
                <a:latin typeface="IBM Plex Sans" pitchFamily="34" charset="0"/>
                <a:ea typeface="IBM Plex Sans" pitchFamily="34" charset="-122"/>
                <a:cs typeface="IBM Plex Sans" pitchFamily="34" charset="-120"/>
              </a:rPr>
              <a:t>Kent Foods DW · Fase 1</a:t>
            </a:r>
            <a:endParaRPr lang="en-US" sz="1200" dirty="0"/>
          </a:p>
        </p:txBody>
      </p:sp>
      <p:sp>
        <p:nvSpPr>
          <p:cNvPr id="3" name="Text 1"/>
          <p:cNvSpPr/>
          <p:nvPr/>
        </p:nvSpPr>
        <p:spPr>
          <a:xfrm>
            <a:off x="11145441" y="623699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D1FF"/>
                </a:solidFill>
                <a:latin typeface="JetBrains Mono" pitchFamily="49" charset="0"/>
                <a:ea typeface="JetBrains Mono" pitchFamily="49" charset="-122"/>
                <a:cs typeface="JetBrains Mono" pitchFamily="49" charset="-120"/>
              </a:rPr>
              <a:t>07</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D166"/>
                </a:solidFill>
                <a:latin typeface="JetBrains Mono" pitchFamily="49" charset="0"/>
                <a:ea typeface="JetBrains Mono" pitchFamily="49" charset="-122"/>
                <a:cs typeface="JetBrains Mono" pitchFamily="49" charset="-120"/>
              </a:rPr>
              <a:t>PROCESO ETL</a:t>
            </a:r>
            <a:endParaRPr lang="en-US" sz="1200" dirty="0"/>
          </a:p>
        </p:txBody>
      </p:sp>
      <p:sp>
        <p:nvSpPr>
          <p:cNvPr id="5" name="Text 3"/>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9FF"/>
                </a:solidFill>
                <a:latin typeface="IBM Plex Sans" pitchFamily="34" charset="0"/>
                <a:ea typeface="IBM Plex Sans" pitchFamily="34" charset="-122"/>
                <a:cs typeface="IBM Plex Sans" pitchFamily="34" charset="-120"/>
              </a:rPr>
              <a:t>Siete paquetes SSIS</a:t>
            </a:r>
            <a:endParaRPr lang="en-US" sz="3200" dirty="0"/>
          </a:p>
        </p:txBody>
      </p:sp>
      <p:sp>
        <p:nvSpPr>
          <p:cNvPr id="6" name="Shape 4"/>
          <p:cNvSpPr/>
          <p:nvPr/>
        </p:nvSpPr>
        <p:spPr>
          <a:xfrm>
            <a:off x="819150" y="1912640"/>
            <a:ext cx="2899767" cy="1000720"/>
          </a:xfrm>
          <a:prstGeom prst="roundRect">
            <a:avLst>
              <a:gd name="adj" fmla="val 9518"/>
            </a:avLst>
          </a:prstGeom>
          <a:solidFill>
            <a:srgbClr val="3A6CF0"/>
          </a:solidFill>
          <a:ln w="12700">
            <a:solidFill>
              <a:srgbClr val="6E95F7"/>
            </a:solidFill>
            <a:prstDash val="solid"/>
          </a:ln>
        </p:spPr>
      </p:sp>
      <p:sp>
        <p:nvSpPr>
          <p:cNvPr id="7" name="Text 5"/>
          <p:cNvSpPr/>
          <p:nvPr/>
        </p:nvSpPr>
        <p:spPr>
          <a:xfrm>
            <a:off x="1054100" y="2122190"/>
            <a:ext cx="25027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9FF"/>
                </a:solidFill>
                <a:latin typeface="JetBrains Mono" pitchFamily="49" charset="0"/>
                <a:ea typeface="JetBrains Mono" pitchFamily="49" charset="-122"/>
                <a:cs typeface="JetBrains Mono" pitchFamily="49" charset="-120"/>
              </a:rPr>
              <a:t>KentFoods</a:t>
            </a:r>
            <a:endParaRPr lang="en-US" sz="2000" dirty="0"/>
          </a:p>
        </p:txBody>
      </p:sp>
      <p:sp>
        <p:nvSpPr>
          <p:cNvPr id="8" name="Text 6"/>
          <p:cNvSpPr/>
          <p:nvPr/>
        </p:nvSpPr>
        <p:spPr>
          <a:xfrm>
            <a:off x="1054100" y="2490490"/>
            <a:ext cx="25027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D166"/>
                </a:solidFill>
                <a:latin typeface="IBM Plex Sans" pitchFamily="34" charset="0"/>
                <a:ea typeface="IBM Plex Sans" pitchFamily="34" charset="-122"/>
                <a:cs typeface="IBM Plex Sans" pitchFamily="34" charset="-120"/>
              </a:rPr>
              <a:t>SQL Server · 11 tablas OLTP</a:t>
            </a:r>
            <a:endParaRPr lang="en-US" sz="1200" dirty="0"/>
          </a:p>
        </p:txBody>
      </p:sp>
      <p:pic>
        <p:nvPicPr>
          <p:cNvPr id="9" name="Image 0" descr="arrow-right">    </p:cNvPr>
          <p:cNvPicPr>
            <a:picLocks noChangeAspect="1"/>
          </p:cNvPicPr>
          <p:nvPr/>
        </p:nvPicPr>
        <p:blipFill>
          <a:blip r:embed="rId1"/>
          <a:srcRect l="0" r="0" t="0" b="0"/>
          <a:stretch/>
        </p:blipFill>
        <p:spPr>
          <a:xfrm>
            <a:off x="3928467" y="2286000"/>
            <a:ext cx="508000" cy="254000"/>
          </a:xfrm>
          <a:prstGeom prst="rect">
            <a:avLst/>
          </a:prstGeom>
        </p:spPr>
      </p:pic>
      <p:sp>
        <p:nvSpPr>
          <p:cNvPr id="10" name="Shape 7"/>
          <p:cNvSpPr/>
          <p:nvPr/>
        </p:nvSpPr>
        <p:spPr>
          <a:xfrm>
            <a:off x="4646017" y="1912640"/>
            <a:ext cx="2899866" cy="1000720"/>
          </a:xfrm>
          <a:prstGeom prst="roundRect">
            <a:avLst>
              <a:gd name="adj" fmla="val 9518"/>
            </a:avLst>
          </a:prstGeom>
          <a:solidFill>
            <a:srgbClr val="3A6CF0"/>
          </a:solidFill>
          <a:ln w="12700">
            <a:solidFill>
              <a:srgbClr val="FFD166"/>
            </a:solidFill>
            <a:prstDash val="solid"/>
          </a:ln>
        </p:spPr>
      </p:sp>
      <p:sp>
        <p:nvSpPr>
          <p:cNvPr id="11" name="Text 8"/>
          <p:cNvSpPr/>
          <p:nvPr/>
        </p:nvSpPr>
        <p:spPr>
          <a:xfrm>
            <a:off x="4880967" y="2122190"/>
            <a:ext cx="25028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9FF"/>
                </a:solidFill>
                <a:latin typeface="JetBrains Mono" pitchFamily="49" charset="0"/>
                <a:ea typeface="JetBrains Mono" pitchFamily="49" charset="-122"/>
                <a:cs typeface="JetBrains Mono" pitchFamily="49" charset="-120"/>
              </a:rPr>
              <a:t>ETL_KentFoods</a:t>
            </a:r>
            <a:endParaRPr lang="en-US" sz="2000" dirty="0"/>
          </a:p>
        </p:txBody>
      </p:sp>
      <p:sp>
        <p:nvSpPr>
          <p:cNvPr id="12" name="Text 9"/>
          <p:cNvSpPr/>
          <p:nvPr/>
        </p:nvSpPr>
        <p:spPr>
          <a:xfrm>
            <a:off x="4880967" y="2490490"/>
            <a:ext cx="25028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D166"/>
                </a:solidFill>
                <a:latin typeface="IBM Plex Sans" pitchFamily="34" charset="0"/>
                <a:ea typeface="IBM Plex Sans" pitchFamily="34" charset="-122"/>
                <a:cs typeface="IBM Plex Sans" pitchFamily="34" charset="-120"/>
              </a:rPr>
              <a:t>Visual Studio · SSIS</a:t>
            </a:r>
            <a:endParaRPr lang="en-US" sz="1200" dirty="0"/>
          </a:p>
        </p:txBody>
      </p:sp>
      <p:pic>
        <p:nvPicPr>
          <p:cNvPr id="13" name="Image 1" descr="arrow-right">    </p:cNvPr>
          <p:cNvPicPr>
            <a:picLocks noChangeAspect="1"/>
          </p:cNvPicPr>
          <p:nvPr/>
        </p:nvPicPr>
        <p:blipFill>
          <a:blip r:embed="rId2"/>
          <a:srcRect l="0" r="0" t="0" b="0"/>
          <a:stretch/>
        </p:blipFill>
        <p:spPr>
          <a:xfrm>
            <a:off x="7755434" y="2286000"/>
            <a:ext cx="508000" cy="254000"/>
          </a:xfrm>
          <a:prstGeom prst="rect">
            <a:avLst/>
          </a:prstGeom>
        </p:spPr>
      </p:pic>
      <p:sp>
        <p:nvSpPr>
          <p:cNvPr id="14" name="Shape 10"/>
          <p:cNvSpPr/>
          <p:nvPr/>
        </p:nvSpPr>
        <p:spPr>
          <a:xfrm>
            <a:off x="8472984" y="1912640"/>
            <a:ext cx="2899866" cy="1000720"/>
          </a:xfrm>
          <a:prstGeom prst="roundRect">
            <a:avLst>
              <a:gd name="adj" fmla="val 9518"/>
            </a:avLst>
          </a:prstGeom>
          <a:solidFill>
            <a:srgbClr val="3A6CF0"/>
          </a:solidFill>
          <a:ln w="12700">
            <a:solidFill>
              <a:srgbClr val="6E95F7"/>
            </a:solidFill>
            <a:prstDash val="solid"/>
          </a:ln>
        </p:spPr>
      </p:sp>
      <p:sp>
        <p:nvSpPr>
          <p:cNvPr id="15" name="Text 11"/>
          <p:cNvSpPr/>
          <p:nvPr/>
        </p:nvSpPr>
        <p:spPr>
          <a:xfrm>
            <a:off x="8707934" y="2122190"/>
            <a:ext cx="25028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9FF"/>
                </a:solidFill>
                <a:latin typeface="JetBrains Mono" pitchFamily="49" charset="0"/>
                <a:ea typeface="JetBrains Mono" pitchFamily="49" charset="-122"/>
                <a:cs typeface="JetBrains Mono" pitchFamily="49" charset="-120"/>
              </a:rPr>
              <a:t>KentFoodsDW</a:t>
            </a:r>
            <a:endParaRPr lang="en-US" sz="2000" dirty="0"/>
          </a:p>
        </p:txBody>
      </p:sp>
      <p:sp>
        <p:nvSpPr>
          <p:cNvPr id="16" name="Text 12"/>
          <p:cNvSpPr/>
          <p:nvPr/>
        </p:nvSpPr>
        <p:spPr>
          <a:xfrm>
            <a:off x="8707934" y="2490490"/>
            <a:ext cx="25028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D166"/>
                </a:solidFill>
                <a:latin typeface="IBM Plex Sans" pitchFamily="34" charset="0"/>
                <a:ea typeface="IBM Plex Sans" pitchFamily="34" charset="-122"/>
                <a:cs typeface="IBM Plex Sans" pitchFamily="34" charset="-120"/>
              </a:rPr>
              <a:t>SQL Server · estrella</a:t>
            </a:r>
            <a:endParaRPr lang="en-US" sz="1200" dirty="0"/>
          </a:p>
        </p:txBody>
      </p:sp>
      <p:sp>
        <p:nvSpPr>
          <p:cNvPr id="17" name="Text 13"/>
          <p:cNvSpPr/>
          <p:nvPr/>
        </p:nvSpPr>
        <p:spPr>
          <a:xfrm>
            <a:off x="812800" y="3905250"/>
            <a:ext cx="1054100" cy="419100"/>
          </a:xfrm>
          <a:prstGeom prst="roundRect">
            <a:avLst>
              <a:gd name="adj" fmla="val 12121"/>
            </a:avLst>
          </a:prstGeom>
          <a:solidFill>
            <a:srgbClr val="FFD166"/>
          </a:solidFill>
          <a:ln/>
        </p:spPr>
        <p:txBody>
          <a:bodyPr wrap="none" lIns="0" tIns="0" rIns="0" bIns="0" rtlCol="0" anchor="ctr">
            <a:normAutofit/>
          </a:bodyPr>
          <a:lstStyle/>
          <a:p>
            <a:pPr algn="ctr" indent="0" marL="0">
              <a:lnSpc>
                <a:spcPts val="2100"/>
              </a:lnSpc>
              <a:buNone/>
            </a:pPr>
            <a:r>
              <a:rPr lang="en-US" sz="1500" dirty="0">
                <a:solidFill>
                  <a:srgbClr val="1B2A4A"/>
                </a:solidFill>
                <a:latin typeface="JetBrains Mono" pitchFamily="49" charset="0"/>
                <a:ea typeface="JetBrains Mono" pitchFamily="49" charset="-122"/>
                <a:cs typeface="JetBrains Mono" pitchFamily="49" charset="-120"/>
              </a:rPr>
              <a:t>Limpiar</a:t>
            </a:r>
            <a:endParaRPr lang="en-US" sz="1500" dirty="0"/>
          </a:p>
        </p:txBody>
      </p:sp>
      <p:pic>
        <p:nvPicPr>
          <p:cNvPr id="18" name="Image 2" descr="arrow-right">    </p:cNvPr>
          <p:cNvPicPr>
            <a:picLocks noChangeAspect="1"/>
          </p:cNvPicPr>
          <p:nvPr/>
        </p:nvPicPr>
        <p:blipFill>
          <a:blip r:embed="rId3"/>
          <a:srcRect l="0" r="0" t="0" b="0"/>
          <a:stretch/>
        </p:blipFill>
        <p:spPr>
          <a:xfrm>
            <a:off x="1990725" y="4064000"/>
            <a:ext cx="177800" cy="101600"/>
          </a:xfrm>
          <a:prstGeom prst="rect">
            <a:avLst/>
          </a:prstGeom>
        </p:spPr>
      </p:pic>
      <p:sp>
        <p:nvSpPr>
          <p:cNvPr id="19" name="Text 14"/>
          <p:cNvSpPr/>
          <p:nvPr/>
        </p:nvSpPr>
        <p:spPr>
          <a:xfrm>
            <a:off x="2295525" y="3902075"/>
            <a:ext cx="1746250" cy="425450"/>
          </a:xfrm>
          <a:prstGeom prst="roundRect">
            <a:avLst>
              <a:gd name="adj" fmla="val 11194"/>
            </a:avLst>
          </a:prstGeom>
          <a:noFill/>
          <a:ln w="6350">
            <a:solidFill>
              <a:srgbClr val="6E95F7"/>
            </a:solidFill>
            <a:prstDash val="solid"/>
          </a:ln>
        </p:spPr>
        <p:txBody>
          <a:bodyPr wrap="none" lIns="0" tIns="0" rIns="0" bIns="0" rtlCol="0" anchor="ctr">
            <a:normAutofit/>
          </a:bodyPr>
          <a:lstStyle/>
          <a:p>
            <a:pPr algn="ctr" indent="0" marL="0">
              <a:lnSpc>
                <a:spcPts val="2100"/>
              </a:lnSpc>
              <a:buNone/>
            </a:pPr>
            <a:r>
              <a:rPr lang="en-US" sz="1500" dirty="0">
                <a:solidFill>
                  <a:srgbClr val="F7F9FF"/>
                </a:solidFill>
                <a:latin typeface="JetBrains Mono" pitchFamily="49" charset="0"/>
                <a:ea typeface="JetBrains Mono" pitchFamily="49" charset="-122"/>
                <a:cs typeface="JetBrains Mono" pitchFamily="49" charset="-120"/>
              </a:rPr>
              <a:t>Transportista</a:t>
            </a:r>
            <a:endParaRPr lang="en-US" sz="1500" dirty="0"/>
          </a:p>
        </p:txBody>
      </p:sp>
      <p:pic>
        <p:nvPicPr>
          <p:cNvPr id="20" name="Image 3" descr="arrow-right">    </p:cNvPr>
          <p:cNvPicPr>
            <a:picLocks noChangeAspect="1"/>
          </p:cNvPicPr>
          <p:nvPr/>
        </p:nvPicPr>
        <p:blipFill>
          <a:blip r:embed="rId4"/>
          <a:srcRect l="0" r="0" t="0" b="0"/>
          <a:stretch/>
        </p:blipFill>
        <p:spPr>
          <a:xfrm>
            <a:off x="4168775" y="4064000"/>
            <a:ext cx="177800" cy="101600"/>
          </a:xfrm>
          <a:prstGeom prst="rect">
            <a:avLst/>
          </a:prstGeom>
        </p:spPr>
      </p:pic>
      <p:sp>
        <p:nvSpPr>
          <p:cNvPr id="21" name="Text 15"/>
          <p:cNvSpPr/>
          <p:nvPr/>
        </p:nvSpPr>
        <p:spPr>
          <a:xfrm>
            <a:off x="4473575" y="3902075"/>
            <a:ext cx="1060450" cy="425450"/>
          </a:xfrm>
          <a:prstGeom prst="roundRect">
            <a:avLst>
              <a:gd name="adj" fmla="val 11194"/>
            </a:avLst>
          </a:prstGeom>
          <a:noFill/>
          <a:ln w="6350">
            <a:solidFill>
              <a:srgbClr val="6E95F7"/>
            </a:solidFill>
            <a:prstDash val="solid"/>
          </a:ln>
        </p:spPr>
        <p:txBody>
          <a:bodyPr wrap="none" lIns="0" tIns="0" rIns="0" bIns="0" rtlCol="0" anchor="ctr">
            <a:normAutofit/>
          </a:bodyPr>
          <a:lstStyle/>
          <a:p>
            <a:pPr algn="ctr" indent="0" marL="0">
              <a:lnSpc>
                <a:spcPts val="2100"/>
              </a:lnSpc>
              <a:buNone/>
            </a:pPr>
            <a:r>
              <a:rPr lang="en-US" sz="1500" dirty="0">
                <a:solidFill>
                  <a:srgbClr val="F7F9FF"/>
                </a:solidFill>
                <a:latin typeface="JetBrains Mono" pitchFamily="49" charset="0"/>
                <a:ea typeface="JetBrains Mono" pitchFamily="49" charset="-122"/>
                <a:cs typeface="JetBrains Mono" pitchFamily="49" charset="-120"/>
              </a:rPr>
              <a:t>Cliente</a:t>
            </a:r>
            <a:endParaRPr lang="en-US" sz="1500" dirty="0"/>
          </a:p>
        </p:txBody>
      </p:sp>
      <p:pic>
        <p:nvPicPr>
          <p:cNvPr id="22" name="Image 4" descr="arrow-right">    </p:cNvPr>
          <p:cNvPicPr>
            <a:picLocks noChangeAspect="1"/>
          </p:cNvPicPr>
          <p:nvPr/>
        </p:nvPicPr>
        <p:blipFill>
          <a:blip r:embed="rId5"/>
          <a:srcRect l="0" r="0" t="0" b="0"/>
          <a:stretch/>
        </p:blipFill>
        <p:spPr>
          <a:xfrm>
            <a:off x="5661025" y="4064000"/>
            <a:ext cx="177800" cy="101600"/>
          </a:xfrm>
          <a:prstGeom prst="rect">
            <a:avLst/>
          </a:prstGeom>
        </p:spPr>
      </p:pic>
      <p:sp>
        <p:nvSpPr>
          <p:cNvPr id="23" name="Text 16"/>
          <p:cNvSpPr/>
          <p:nvPr/>
        </p:nvSpPr>
        <p:spPr>
          <a:xfrm>
            <a:off x="5965825" y="3902075"/>
            <a:ext cx="1174750" cy="425450"/>
          </a:xfrm>
          <a:prstGeom prst="roundRect">
            <a:avLst>
              <a:gd name="adj" fmla="val 11194"/>
            </a:avLst>
          </a:prstGeom>
          <a:noFill/>
          <a:ln w="6350">
            <a:solidFill>
              <a:srgbClr val="6E95F7"/>
            </a:solidFill>
            <a:prstDash val="solid"/>
          </a:ln>
        </p:spPr>
        <p:txBody>
          <a:bodyPr wrap="none" lIns="0" tIns="0" rIns="0" bIns="0" rtlCol="0" anchor="ctr">
            <a:normAutofit/>
          </a:bodyPr>
          <a:lstStyle/>
          <a:p>
            <a:pPr algn="ctr" indent="0" marL="0">
              <a:lnSpc>
                <a:spcPts val="2100"/>
              </a:lnSpc>
              <a:buNone/>
            </a:pPr>
            <a:r>
              <a:rPr lang="en-US" sz="1500" dirty="0">
                <a:solidFill>
                  <a:srgbClr val="F7F9FF"/>
                </a:solidFill>
                <a:latin typeface="JetBrains Mono" pitchFamily="49" charset="0"/>
                <a:ea typeface="JetBrains Mono" pitchFamily="49" charset="-122"/>
                <a:cs typeface="JetBrains Mono" pitchFamily="49" charset="-120"/>
              </a:rPr>
              <a:t>Producto</a:t>
            </a:r>
            <a:endParaRPr lang="en-US" sz="1500" dirty="0"/>
          </a:p>
        </p:txBody>
      </p:sp>
      <p:pic>
        <p:nvPicPr>
          <p:cNvPr id="24" name="Image 5" descr="arrow-right">    </p:cNvPr>
          <p:cNvPicPr>
            <a:picLocks noChangeAspect="1"/>
          </p:cNvPicPr>
          <p:nvPr/>
        </p:nvPicPr>
        <p:blipFill>
          <a:blip r:embed="rId6"/>
          <a:srcRect l="0" r="0" t="0" b="0"/>
          <a:stretch/>
        </p:blipFill>
        <p:spPr>
          <a:xfrm>
            <a:off x="7267575" y="4064000"/>
            <a:ext cx="177800" cy="101600"/>
          </a:xfrm>
          <a:prstGeom prst="rect">
            <a:avLst/>
          </a:prstGeom>
        </p:spPr>
      </p:pic>
      <p:sp>
        <p:nvSpPr>
          <p:cNvPr id="25" name="Text 17"/>
          <p:cNvSpPr/>
          <p:nvPr/>
        </p:nvSpPr>
        <p:spPr>
          <a:xfrm>
            <a:off x="7572375" y="3902075"/>
            <a:ext cx="1174750" cy="425450"/>
          </a:xfrm>
          <a:prstGeom prst="roundRect">
            <a:avLst>
              <a:gd name="adj" fmla="val 11194"/>
            </a:avLst>
          </a:prstGeom>
          <a:noFill/>
          <a:ln w="6350">
            <a:solidFill>
              <a:srgbClr val="6E95F7"/>
            </a:solidFill>
            <a:prstDash val="solid"/>
          </a:ln>
        </p:spPr>
        <p:txBody>
          <a:bodyPr wrap="none" lIns="0" tIns="0" rIns="0" bIns="0" rtlCol="0" anchor="ctr">
            <a:normAutofit/>
          </a:bodyPr>
          <a:lstStyle/>
          <a:p>
            <a:pPr algn="ctr" indent="0" marL="0">
              <a:lnSpc>
                <a:spcPts val="2100"/>
              </a:lnSpc>
              <a:buNone/>
            </a:pPr>
            <a:r>
              <a:rPr lang="en-US" sz="1500" dirty="0">
                <a:solidFill>
                  <a:srgbClr val="F7F9FF"/>
                </a:solidFill>
                <a:latin typeface="JetBrains Mono" pitchFamily="49" charset="0"/>
                <a:ea typeface="JetBrains Mono" pitchFamily="49" charset="-122"/>
                <a:cs typeface="JetBrains Mono" pitchFamily="49" charset="-120"/>
              </a:rPr>
              <a:t>Empleado</a:t>
            </a:r>
            <a:endParaRPr lang="en-US" sz="1500" dirty="0"/>
          </a:p>
        </p:txBody>
      </p:sp>
      <p:pic>
        <p:nvPicPr>
          <p:cNvPr id="26" name="Image 6" descr="arrow-right">    </p:cNvPr>
          <p:cNvPicPr>
            <a:picLocks noChangeAspect="1"/>
          </p:cNvPicPr>
          <p:nvPr/>
        </p:nvPicPr>
        <p:blipFill>
          <a:blip r:embed="rId7"/>
          <a:srcRect l="0" r="0" t="0" b="0"/>
          <a:stretch/>
        </p:blipFill>
        <p:spPr>
          <a:xfrm>
            <a:off x="8874125" y="4064000"/>
            <a:ext cx="177800" cy="101600"/>
          </a:xfrm>
          <a:prstGeom prst="rect">
            <a:avLst/>
          </a:prstGeom>
        </p:spPr>
      </p:pic>
      <p:sp>
        <p:nvSpPr>
          <p:cNvPr id="27" name="Text 18"/>
          <p:cNvSpPr/>
          <p:nvPr/>
        </p:nvSpPr>
        <p:spPr>
          <a:xfrm>
            <a:off x="9178925" y="3902075"/>
            <a:ext cx="946150" cy="425450"/>
          </a:xfrm>
          <a:prstGeom prst="roundRect">
            <a:avLst>
              <a:gd name="adj" fmla="val 11194"/>
            </a:avLst>
          </a:prstGeom>
          <a:noFill/>
          <a:ln w="6350">
            <a:solidFill>
              <a:srgbClr val="6E95F7"/>
            </a:solidFill>
            <a:prstDash val="solid"/>
          </a:ln>
        </p:spPr>
        <p:txBody>
          <a:bodyPr wrap="none" lIns="0" tIns="0" rIns="0" bIns="0" rtlCol="0" anchor="ctr">
            <a:normAutofit/>
          </a:bodyPr>
          <a:lstStyle/>
          <a:p>
            <a:pPr algn="ctr" indent="0" marL="0">
              <a:lnSpc>
                <a:spcPts val="2100"/>
              </a:lnSpc>
              <a:buNone/>
            </a:pPr>
            <a:r>
              <a:rPr lang="en-US" sz="1500" dirty="0">
                <a:solidFill>
                  <a:srgbClr val="F7F9FF"/>
                </a:solidFill>
                <a:latin typeface="JetBrains Mono" pitchFamily="49" charset="0"/>
                <a:ea typeface="JetBrains Mono" pitchFamily="49" charset="-122"/>
                <a:cs typeface="JetBrains Mono" pitchFamily="49" charset="-120"/>
              </a:rPr>
              <a:t>Tiempo</a:t>
            </a:r>
            <a:endParaRPr lang="en-US" sz="1500" dirty="0"/>
          </a:p>
        </p:txBody>
      </p:sp>
      <p:pic>
        <p:nvPicPr>
          <p:cNvPr id="28" name="Image 7" descr="arrow-right">    </p:cNvPr>
          <p:cNvPicPr>
            <a:picLocks noChangeAspect="1"/>
          </p:cNvPicPr>
          <p:nvPr/>
        </p:nvPicPr>
        <p:blipFill>
          <a:blip r:embed="rId8"/>
          <a:srcRect l="0" r="0" t="0" b="0"/>
          <a:stretch/>
        </p:blipFill>
        <p:spPr>
          <a:xfrm>
            <a:off x="10252075" y="4064000"/>
            <a:ext cx="177800" cy="101600"/>
          </a:xfrm>
          <a:prstGeom prst="rect">
            <a:avLst/>
          </a:prstGeom>
        </p:spPr>
      </p:pic>
      <p:sp>
        <p:nvSpPr>
          <p:cNvPr id="29" name="Text 19"/>
          <p:cNvSpPr/>
          <p:nvPr/>
        </p:nvSpPr>
        <p:spPr>
          <a:xfrm>
            <a:off x="10553700" y="3905250"/>
            <a:ext cx="825500" cy="419100"/>
          </a:xfrm>
          <a:prstGeom prst="roundRect">
            <a:avLst>
              <a:gd name="adj" fmla="val 12121"/>
            </a:avLst>
          </a:prstGeom>
          <a:solidFill>
            <a:srgbClr val="F7F9FF"/>
          </a:solidFill>
          <a:ln/>
        </p:spPr>
        <p:txBody>
          <a:bodyPr wrap="none" lIns="0" tIns="0" rIns="0" bIns="0" rtlCol="0" anchor="ctr">
            <a:normAutofit/>
          </a:bodyPr>
          <a:lstStyle/>
          <a:p>
            <a:pPr algn="ctr" indent="0" marL="0">
              <a:lnSpc>
                <a:spcPts val="2100"/>
              </a:lnSpc>
              <a:buNone/>
            </a:pPr>
            <a:r>
              <a:rPr lang="en-US" sz="1500" b="1" dirty="0">
                <a:solidFill>
                  <a:srgbClr val="1B2A4A"/>
                </a:solidFill>
                <a:latin typeface="JetBrains Mono" pitchFamily="49" charset="0"/>
                <a:ea typeface="JetBrains Mono" pitchFamily="49" charset="-122"/>
                <a:cs typeface="JetBrains Mono" pitchFamily="49" charset="-120"/>
              </a:rPr>
              <a:t>Hecho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459E0"/>
                </a:solidFill>
                <a:latin typeface="JetBrains Mono" pitchFamily="49" charset="0"/>
                <a:ea typeface="JetBrains Mono" pitchFamily="49" charset="-122"/>
                <a:cs typeface="JetBrains Mono" pitchFamily="49" charset="-120"/>
              </a:rPr>
              <a:t>PROCESO ETL</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A"/>
                </a:solidFill>
                <a:latin typeface="IBM Plex Sans" pitchFamily="34" charset="0"/>
                <a:ea typeface="IBM Plex Sans" pitchFamily="34" charset="-122"/>
                <a:cs typeface="IBM Plex Sans" pitchFamily="34" charset="-120"/>
              </a:rPr>
              <a:t>Carga de las dimensiones</a:t>
            </a:r>
            <a:endParaRPr lang="en-US" sz="3200" dirty="0"/>
          </a:p>
        </p:txBody>
      </p:sp>
      <p:sp>
        <p:nvSpPr>
          <p:cNvPr id="4" name="Shape 2"/>
          <p:cNvSpPr/>
          <p:nvPr/>
        </p:nvSpPr>
        <p:spPr>
          <a:xfrm>
            <a:off x="812800" y="1854101"/>
            <a:ext cx="10566400" cy="2801342"/>
          </a:xfrm>
          <a:prstGeom prst="rect">
            <a:avLst/>
          </a:prstGeom>
          <a:solidFill>
            <a:srgbClr val="FEFE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53700" cy="2788642"/>
        </p:xfrm>
        <a:graphic>
          <a:graphicData uri="http://schemas.openxmlformats.org/drawingml/2006/table">
            <a:tbl>
              <a:tblPr/>
              <a:tblGrid>
                <a:gridCol w="2427351"/>
                <a:gridCol w="3271647"/>
                <a:gridCol w="3799332"/>
                <a:gridCol w="1055370"/>
              </a:tblGrid>
              <a:tr h="429220">
                <a:tc>
                  <a:txBody>
                    <a:bodyPr/>
                    <a:lstStyle/>
                    <a:p>
                      <a:pPr indent="0" marL="0">
                        <a:lnSpc>
                          <a:spcPts val="1680"/>
                        </a:lnSpc>
                        <a:buNone/>
                      </a:pPr>
                      <a:r>
                        <a:rPr lang="en-US" sz="1200" b="1" dirty="0">
                          <a:solidFill>
                            <a:srgbClr val="F7F9FF"/>
                          </a:solidFill>
                          <a:latin typeface="IBM Plex Sans" pitchFamily="34" charset="0"/>
                          <a:ea typeface="IBM Plex Sans" pitchFamily="34" charset="-122"/>
                          <a:cs typeface="IBM Plex Sans" pitchFamily="34" charset="-120"/>
                        </a:rPr>
                        <a:t>Paquete</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204AB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4AB3"/>
                      </a:solidFill>
                      <a:prstDash val="solid"/>
                      <a:round/>
                      <a:headEnd type="none" w="med" len="med"/>
                      <a:tailEnd type="none" w="med" len="med"/>
                    </a:lnB>
                    <a:solidFill>
                      <a:srgbClr val="2459E0"/>
                    </a:solidFill>
                  </a:tcPr>
                </a:tc>
                <a:tc>
                  <a:txBody>
                    <a:bodyPr/>
                    <a:lstStyle/>
                    <a:p>
                      <a:pPr indent="0" marL="0">
                        <a:lnSpc>
                          <a:spcPts val="1680"/>
                        </a:lnSpc>
                        <a:buNone/>
                      </a:pPr>
                      <a:r>
                        <a:rPr lang="en-US" sz="1200" b="1" dirty="0">
                          <a:solidFill>
                            <a:srgbClr val="F7F9FF"/>
                          </a:solidFill>
                          <a:latin typeface="IBM Plex Sans" pitchFamily="34" charset="0"/>
                          <a:ea typeface="IBM Plex Sans" pitchFamily="34" charset="-122"/>
                          <a:cs typeface="IBM Plex Sans" pitchFamily="34" charset="-120"/>
                        </a:rPr>
                        <a:t>Origen</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204AB3"/>
                      </a:solidFill>
                      <a:prstDash val="solid"/>
                      <a:round/>
                      <a:headEnd type="none" w="med" len="med"/>
                      <a:tailEnd type="none" w="med" len="med"/>
                    </a:lnL>
                    <a:lnR w="12700" cap="flat" cmpd="sng" algn="ctr">
                      <a:solidFill>
                        <a:srgbClr val="204AB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4AB3"/>
                      </a:solidFill>
                      <a:prstDash val="solid"/>
                      <a:round/>
                      <a:headEnd type="none" w="med" len="med"/>
                      <a:tailEnd type="none" w="med" len="med"/>
                    </a:lnB>
                    <a:solidFill>
                      <a:srgbClr val="2459E0"/>
                    </a:solidFill>
                  </a:tcPr>
                </a:tc>
                <a:tc>
                  <a:txBody>
                    <a:bodyPr/>
                    <a:lstStyle/>
                    <a:p>
                      <a:pPr indent="0" marL="0">
                        <a:lnSpc>
                          <a:spcPts val="1680"/>
                        </a:lnSpc>
                        <a:buNone/>
                      </a:pPr>
                      <a:r>
                        <a:rPr lang="en-US" sz="1200" b="1" dirty="0">
                          <a:solidFill>
                            <a:srgbClr val="F7F9FF"/>
                          </a:solidFill>
                          <a:latin typeface="IBM Plex Sans" pitchFamily="34" charset="0"/>
                          <a:ea typeface="IBM Plex Sans" pitchFamily="34" charset="-122"/>
                          <a:cs typeface="IBM Plex Sans" pitchFamily="34" charset="-120"/>
                        </a:rPr>
                        <a:t>Transformación</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204AB3"/>
                      </a:solidFill>
                      <a:prstDash val="solid"/>
                      <a:round/>
                      <a:headEnd type="none" w="med" len="med"/>
                      <a:tailEnd type="none" w="med" len="med"/>
                    </a:lnL>
                    <a:lnR w="12700" cap="flat" cmpd="sng" algn="ctr">
                      <a:solidFill>
                        <a:srgbClr val="204AB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4AB3"/>
                      </a:solidFill>
                      <a:prstDash val="solid"/>
                      <a:round/>
                      <a:headEnd type="none" w="med" len="med"/>
                      <a:tailEnd type="none" w="med" len="med"/>
                    </a:lnB>
                    <a:solidFill>
                      <a:srgbClr val="2459E0"/>
                    </a:solidFill>
                  </a:tcPr>
                </a:tc>
                <a:tc>
                  <a:txBody>
                    <a:bodyPr/>
                    <a:lstStyle/>
                    <a:p>
                      <a:pPr algn="r" indent="0" marL="0">
                        <a:lnSpc>
                          <a:spcPts val="1680"/>
                        </a:lnSpc>
                        <a:buNone/>
                      </a:pPr>
                      <a:r>
                        <a:rPr lang="en-US" sz="1200" b="1" dirty="0">
                          <a:solidFill>
                            <a:srgbClr val="F7F9FF"/>
                          </a:solidFill>
                          <a:latin typeface="IBM Plex Sans" pitchFamily="34" charset="0"/>
                          <a:ea typeface="IBM Plex Sans" pitchFamily="34" charset="-122"/>
                          <a:cs typeface="IBM Plex Sans" pitchFamily="34" charset="-120"/>
                        </a:rPr>
                        <a:t>Filas</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204AB3"/>
                      </a:solidFill>
                      <a:prstDash val="solid"/>
                      <a:round/>
                      <a:headEnd type="none" w="med" len="med"/>
                      <a:tailEnd type="none" w="med" len="med"/>
                    </a:lnL>
                    <a:lnR w="12700" cap="flat" cmpd="sng" algn="ctr">
                      <a:solidFill>
                        <a:srgbClr val="204AB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204AB3"/>
                      </a:solidFill>
                      <a:prstDash val="solid"/>
                      <a:round/>
                      <a:headEnd type="none" w="med" len="med"/>
                      <a:tailEnd type="none" w="med" len="med"/>
                    </a:lnB>
                    <a:solidFill>
                      <a:srgbClr val="2459E0"/>
                    </a:solidFill>
                  </a:tcPr>
                </a:tc>
              </a:tr>
              <a:tr h="429220">
                <a:tc>
                  <a:txBody>
                    <a:bodyPr/>
                    <a:lstStyle/>
                    <a:p>
                      <a:pPr indent="0" marL="0">
                        <a:lnSpc>
                          <a:spcPts val="1680"/>
                        </a:lnSpc>
                        <a:buNone/>
                      </a:pPr>
                      <a:r>
                        <a:rPr lang="en-US" sz="1200" dirty="0">
                          <a:solidFill>
                            <a:srgbClr val="1B2A4A"/>
                          </a:solidFill>
                          <a:latin typeface="IBM Plex Sans" pitchFamily="34" charset="0"/>
                          <a:ea typeface="IBM Plex Sans" pitchFamily="34" charset="-122"/>
                          <a:cs typeface="IBM Plex Sans" pitchFamily="34" charset="-120"/>
                        </a:rPr>
                        <a:t>Dim_Transportista</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4AB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Transportistas</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4AB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Carga directa (Data Flow)</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4AB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04AB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9220">
                <a:tc>
                  <a:txBody>
                    <a:bodyPr/>
                    <a:lstStyle/>
                    <a:p>
                      <a:pPr indent="0" marL="0">
                        <a:lnSpc>
                          <a:spcPts val="1680"/>
                        </a:lnSpc>
                        <a:buNone/>
                      </a:pPr>
                      <a:r>
                        <a:rPr lang="en-US" sz="1200" dirty="0">
                          <a:solidFill>
                            <a:srgbClr val="1B2A4A"/>
                          </a:solidFill>
                          <a:latin typeface="IBM Plex Sans" pitchFamily="34" charset="0"/>
                          <a:ea typeface="IBM Plex Sans" pitchFamily="34" charset="-122"/>
                          <a:cs typeface="IBM Plex Sans" pitchFamily="34" charset="-120"/>
                        </a:rPr>
                        <a:t>Dim_Cliente</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0C4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A"/>
                      </a:solidFill>
                      <a:prstDash val="solid"/>
                      <a:round/>
                      <a:headEnd type="none" w="med" len="med"/>
                      <a:tailEnd type="none" w="med" len="med"/>
                    </a:lnB>
                    <a:solidFill>
                      <a:srgbClr val="F1F5FD"/>
                    </a:solidFill>
                  </a:tcPr>
                </a:tc>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Clientes</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0C4CA"/>
                      </a:solidFill>
                      <a:prstDash val="solid"/>
                      <a:round/>
                      <a:headEnd type="none" w="med" len="med"/>
                      <a:tailEnd type="none" w="med" len="med"/>
                    </a:lnL>
                    <a:lnR w="12700" cap="flat" cmpd="sng" algn="ctr">
                      <a:solidFill>
                        <a:srgbClr val="C0C4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A"/>
                      </a:solidFill>
                      <a:prstDash val="solid"/>
                      <a:round/>
                      <a:headEnd type="none" w="med" len="med"/>
                      <a:tailEnd type="none" w="med" len="med"/>
                    </a:lnB>
                    <a:solidFill>
                      <a:srgbClr val="F1F5FD"/>
                    </a:solidFill>
                  </a:tcPr>
                </a:tc>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Carga directa (Data Flow)</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0C4CA"/>
                      </a:solidFill>
                      <a:prstDash val="solid"/>
                      <a:round/>
                      <a:headEnd type="none" w="med" len="med"/>
                      <a:tailEnd type="none" w="med" len="med"/>
                    </a:lnL>
                    <a:lnR w="12700" cap="flat" cmpd="sng" algn="ctr">
                      <a:solidFill>
                        <a:srgbClr val="C0C4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A"/>
                      </a:solidFill>
                      <a:prstDash val="solid"/>
                      <a:round/>
                      <a:headEnd type="none" w="med" len="med"/>
                      <a:tailEnd type="none" w="med" len="med"/>
                    </a:lnB>
                    <a:solidFill>
                      <a:srgbClr val="F1F5FD"/>
                    </a:solidFill>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91</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0C4CA"/>
                      </a:solidFill>
                      <a:prstDash val="solid"/>
                      <a:round/>
                      <a:headEnd type="none" w="med" len="med"/>
                      <a:tailEnd type="none" w="med" len="med"/>
                    </a:lnL>
                    <a:lnR w="12700" cap="flat" cmpd="sng" algn="ctr">
                      <a:solidFill>
                        <a:srgbClr val="C0C4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A"/>
                      </a:solidFill>
                      <a:prstDash val="solid"/>
                      <a:round/>
                      <a:headEnd type="none" w="med" len="med"/>
                      <a:tailEnd type="none" w="med" len="med"/>
                    </a:lnB>
                    <a:solidFill>
                      <a:srgbClr val="F1F5FD"/>
                    </a:solidFill>
                  </a:tcPr>
                </a:tc>
              </a:tr>
              <a:tr h="429220">
                <a:tc>
                  <a:txBody>
                    <a:bodyPr/>
                    <a:lstStyle/>
                    <a:p>
                      <a:pPr indent="0" marL="0">
                        <a:lnSpc>
                          <a:spcPts val="1680"/>
                        </a:lnSpc>
                        <a:buNone/>
                      </a:pPr>
                      <a:r>
                        <a:rPr lang="en-US" sz="1200" dirty="0">
                          <a:solidFill>
                            <a:srgbClr val="1B2A4A"/>
                          </a:solidFill>
                          <a:latin typeface="IBM Plex Sans" pitchFamily="34" charset="0"/>
                          <a:ea typeface="IBM Plex Sans" pitchFamily="34" charset="-122"/>
                          <a:cs typeface="IBM Plex Sans" pitchFamily="34" charset="-120"/>
                        </a:rPr>
                        <a:t>Dim_Producto</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Productos + Categorias + Proveedores</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JOIN en la consulta de origen</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77</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42541">
                <a:tc>
                  <a:txBody>
                    <a:bodyPr/>
                    <a:lstStyle/>
                    <a:p>
                      <a:pPr indent="0" marL="0">
                        <a:lnSpc>
                          <a:spcPts val="1680"/>
                        </a:lnSpc>
                        <a:buNone/>
                      </a:pPr>
                      <a:r>
                        <a:rPr lang="en-US" sz="1200" dirty="0">
                          <a:solidFill>
                            <a:srgbClr val="1B2A4A"/>
                          </a:solidFill>
                          <a:latin typeface="IBM Plex Sans" pitchFamily="34" charset="0"/>
                          <a:ea typeface="IBM Plex Sans" pitchFamily="34" charset="-122"/>
                          <a:cs typeface="IBM Plex Sans" pitchFamily="34" charset="-120"/>
                        </a:rPr>
                        <a:t>Dim_Empleado</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0C4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A"/>
                      </a:solidFill>
                      <a:prstDash val="solid"/>
                      <a:round/>
                      <a:headEnd type="none" w="med" len="med"/>
                      <a:tailEnd type="none" w="med" len="med"/>
                    </a:lnB>
                    <a:solidFill>
                      <a:srgbClr val="F1F5FD"/>
                    </a:solidFill>
                  </a:tcPr>
                </a:tc>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Empleados + Territorios + Regiones</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0C4CA"/>
                      </a:solidFill>
                      <a:prstDash val="solid"/>
                      <a:round/>
                      <a:headEnd type="none" w="med" len="med"/>
                      <a:tailEnd type="none" w="med" len="med"/>
                    </a:lnL>
                    <a:lnR w="12700" cap="flat" cmpd="sng" algn="ctr">
                      <a:solidFill>
                        <a:srgbClr val="C0C4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A"/>
                      </a:solidFill>
                      <a:prstDash val="solid"/>
                      <a:round/>
                      <a:headEnd type="none" w="med" len="med"/>
                      <a:tailEnd type="none" w="med" len="med"/>
                    </a:lnB>
                    <a:solidFill>
                      <a:srgbClr val="F1F5FD"/>
                    </a:solidFill>
                  </a:tcPr>
                </a:tc>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Derived Column: Nombre + Apellido y RTRIM(Region)</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0C4CA"/>
                      </a:solidFill>
                      <a:prstDash val="solid"/>
                      <a:round/>
                      <a:headEnd type="none" w="med" len="med"/>
                      <a:tailEnd type="none" w="med" len="med"/>
                    </a:lnL>
                    <a:lnR w="12700" cap="flat" cmpd="sng" algn="ctr">
                      <a:solidFill>
                        <a:srgbClr val="C0C4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A"/>
                      </a:solidFill>
                      <a:prstDash val="solid"/>
                      <a:round/>
                      <a:headEnd type="none" w="med" len="med"/>
                      <a:tailEnd type="none" w="med" len="med"/>
                    </a:lnB>
                    <a:solidFill>
                      <a:srgbClr val="F1F5FD"/>
                    </a:solidFill>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0C4CA"/>
                      </a:solidFill>
                      <a:prstDash val="solid"/>
                      <a:round/>
                      <a:headEnd type="none" w="med" len="med"/>
                      <a:tailEnd type="none" w="med" len="med"/>
                    </a:lnL>
                    <a:lnR w="12700" cap="flat" cmpd="sng" algn="ctr">
                      <a:solidFill>
                        <a:srgbClr val="C0C4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4CA"/>
                      </a:solidFill>
                      <a:prstDash val="solid"/>
                      <a:round/>
                      <a:headEnd type="none" w="med" len="med"/>
                      <a:tailEnd type="none" w="med" len="med"/>
                    </a:lnB>
                    <a:solidFill>
                      <a:srgbClr val="F1F5FD"/>
                    </a:solidFill>
                  </a:tcPr>
                </a:tc>
              </a:tr>
              <a:tr h="429220">
                <a:tc>
                  <a:txBody>
                    <a:bodyPr/>
                    <a:lstStyle/>
                    <a:p>
                      <a:pPr indent="0" marL="0">
                        <a:lnSpc>
                          <a:spcPts val="1680"/>
                        </a:lnSpc>
                        <a:buNone/>
                      </a:pPr>
                      <a:r>
                        <a:rPr lang="en-US" sz="1200" dirty="0">
                          <a:solidFill>
                            <a:srgbClr val="1B2A4A"/>
                          </a:solidFill>
                          <a:latin typeface="IBM Plex Sans" pitchFamily="34" charset="0"/>
                          <a:ea typeface="IBM Plex Sans" pitchFamily="34" charset="-122"/>
                          <a:cs typeface="IBM Plex Sans" pitchFamily="34" charset="-120"/>
                        </a:rPr>
                        <a:t>Dim_Tiempo</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Procedimiento usp_CargarDimTiempo</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Execute SQL, del 2016-01-01 al 2018-12-31</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1.096</a:t>
                      </a:r>
                      <a:endParaRPr lang="en-US" sz="1200" dirty="0">
                        <a:latin typeface="IBM Plex Sans" charset="0"/>
                        <a:ea typeface="IBM Plex Sans" charset="0"/>
                        <a:cs typeface="IBM Plex Sans" charset="0"/>
                      </a:endParaRPr>
                    </a:p>
                  </a:txBody>
                  <a:tcPr marL="152400" marR="1524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6990"/>
            <a:ext cx="19303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Kent Foods DW · Fase 1</a:t>
            </a:r>
            <a:endParaRPr lang="en-US" sz="1200" dirty="0"/>
          </a:p>
        </p:txBody>
      </p:sp>
      <p:sp>
        <p:nvSpPr>
          <p:cNvPr id="7" name="Text 4"/>
          <p:cNvSpPr/>
          <p:nvPr/>
        </p:nvSpPr>
        <p:spPr>
          <a:xfrm>
            <a:off x="11145441" y="623699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85"/>
                </a:solidFill>
                <a:latin typeface="JetBrains Mono" pitchFamily="49" charset="0"/>
                <a:ea typeface="JetBrains Mono" pitchFamily="49" charset="-122"/>
                <a:cs typeface="JetBrains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459E0"/>
                </a:solidFill>
                <a:latin typeface="JetBrains Mono" pitchFamily="49" charset="0"/>
                <a:ea typeface="JetBrains Mono" pitchFamily="49" charset="-122"/>
                <a:cs typeface="JetBrains Mono" pitchFamily="49" charset="-120"/>
              </a:rPr>
              <a:t>PROCESO ETL</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A"/>
                </a:solidFill>
                <a:latin typeface="IBM Plex Sans" pitchFamily="34" charset="0"/>
                <a:ea typeface="IBM Plex Sans" pitchFamily="34" charset="-122"/>
                <a:cs typeface="IBM Plex Sans" pitchFamily="34" charset="-120"/>
              </a:rPr>
              <a:t>Carga de Fact_Detalle_Venta</a:t>
            </a:r>
            <a:endParaRPr lang="en-US" sz="3200" dirty="0"/>
          </a:p>
        </p:txBody>
      </p:sp>
      <p:sp>
        <p:nvSpPr>
          <p:cNvPr id="4" name="Text 2"/>
          <p:cNvSpPr/>
          <p:nvPr/>
        </p:nvSpPr>
        <p:spPr>
          <a:xfrm>
            <a:off x="812800" y="1803301"/>
            <a:ext cx="4826000" cy="391120"/>
          </a:xfrm>
          <a:prstGeom prst="roundRect">
            <a:avLst>
              <a:gd name="adj" fmla="val 16235"/>
            </a:avLst>
          </a:prstGeom>
          <a:solidFill>
            <a:srgbClr val="2459E0"/>
          </a:solidFill>
          <a:ln/>
        </p:spPr>
        <p:txBody>
          <a:bodyPr wrap="square" lIns="133801" tIns="70301" rIns="0" bIns="44901" rtlCol="0" anchor="t">
            <a:normAutofit/>
          </a:bodyPr>
          <a:lstStyle/>
          <a:p>
            <a:pPr algn="l" indent="0" marL="0">
              <a:lnSpc>
                <a:spcPts val="1680"/>
              </a:lnSpc>
              <a:buNone/>
            </a:pPr>
            <a:r>
              <a:rPr lang="en-US" sz="1200" b="1" dirty="0">
                <a:solidFill>
                  <a:srgbClr val="F7F9FF"/>
                </a:solidFill>
                <a:latin typeface="JetBrains Mono" pitchFamily="49" charset="0"/>
                <a:ea typeface="JetBrains Mono" pitchFamily="49" charset="-122"/>
                <a:cs typeface="JetBrains Mono" pitchFamily="49" charset="-120"/>
              </a:rPr>
              <a:t>OLE DB Source</a:t>
            </a:r>
            <a:r>
              <a:rPr lang="en-US" sz="1200" dirty="0">
                <a:solidFill>
                  <a:srgbClr val="F7F9FF"/>
                </a:solidFill>
                <a:latin typeface="JetBrains Mono" pitchFamily="49" charset="0"/>
                <a:ea typeface="JetBrains Mono" pitchFamily="49" charset="-122"/>
                <a:cs typeface="JetBrains Mono" pitchFamily="49" charset="-120"/>
              </a:rPr>
              <a:t> · DetalleOrden ⋈ Ordenes</a:t>
            </a:r>
            <a:endParaRPr lang="en-US" sz="1200" dirty="0"/>
          </a:p>
        </p:txBody>
      </p:sp>
      <p:pic>
        <p:nvPicPr>
          <p:cNvPr id="5" name="Image 0" descr="arrow-down">    </p:cNvPr>
          <p:cNvPicPr>
            <a:picLocks noChangeAspect="1"/>
          </p:cNvPicPr>
          <p:nvPr/>
        </p:nvPicPr>
        <p:blipFill>
          <a:blip r:embed="rId1"/>
          <a:srcRect l="0" r="0" t="0" b="0"/>
          <a:stretch/>
        </p:blipFill>
        <p:spPr>
          <a:xfrm>
            <a:off x="3149600" y="2232521"/>
            <a:ext cx="152400" cy="203200"/>
          </a:xfrm>
          <a:prstGeom prst="rect">
            <a:avLst/>
          </a:prstGeom>
        </p:spPr>
      </p:pic>
      <p:sp>
        <p:nvSpPr>
          <p:cNvPr id="6" name="Text 3"/>
          <p:cNvSpPr/>
          <p:nvPr/>
        </p:nvSpPr>
        <p:spPr>
          <a:xfrm>
            <a:off x="815975" y="2476996"/>
            <a:ext cx="4819650" cy="397470"/>
          </a:xfrm>
          <a:prstGeom prst="roundRect">
            <a:avLst>
              <a:gd name="adj" fmla="val 15177"/>
            </a:avLst>
          </a:prstGeom>
          <a:solidFill>
            <a:srgbClr val="FEFEFF"/>
          </a:solidFill>
          <a:ln w="6350">
            <a:solidFill>
              <a:srgbClr val="DCE3F0"/>
            </a:solidFill>
            <a:prstDash val="solid"/>
          </a:ln>
        </p:spPr>
        <p:txBody>
          <a:bodyPr wrap="square" lIns="137906" tIns="74406" rIns="2651" bIns="49006" rtlCol="0" anchor="t">
            <a:normAutofit/>
          </a:bodyPr>
          <a:lstStyle/>
          <a:p>
            <a:pPr algn="l"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Lookup</a:t>
            </a:r>
            <a:r>
              <a:rPr lang="en-US" sz="1200" dirty="0">
                <a:solidFill>
                  <a:srgbClr val="1B2A4A"/>
                </a:solidFill>
                <a:latin typeface="JetBrains Mono" pitchFamily="49" charset="0"/>
                <a:ea typeface="JetBrains Mono" pitchFamily="49" charset="-122"/>
                <a:cs typeface="JetBrains Mono" pitchFamily="49" charset="-120"/>
              </a:rPr>
              <a:t> ClienteID → ClienteKey</a:t>
            </a:r>
            <a:endParaRPr lang="en-US" sz="1200" dirty="0"/>
          </a:p>
        </p:txBody>
      </p:sp>
      <p:pic>
        <p:nvPicPr>
          <p:cNvPr id="7" name="Image 1" descr="arrow-down">    </p:cNvPr>
          <p:cNvPicPr>
            <a:picLocks noChangeAspect="1"/>
          </p:cNvPicPr>
          <p:nvPr/>
        </p:nvPicPr>
        <p:blipFill>
          <a:blip r:embed="rId2"/>
          <a:srcRect l="0" r="0" t="0" b="0"/>
          <a:stretch/>
        </p:blipFill>
        <p:spPr>
          <a:xfrm>
            <a:off x="3149600" y="2915741"/>
            <a:ext cx="152400" cy="203200"/>
          </a:xfrm>
          <a:prstGeom prst="rect">
            <a:avLst/>
          </a:prstGeom>
        </p:spPr>
      </p:pic>
      <p:sp>
        <p:nvSpPr>
          <p:cNvPr id="8" name="Text 4"/>
          <p:cNvSpPr/>
          <p:nvPr/>
        </p:nvSpPr>
        <p:spPr>
          <a:xfrm>
            <a:off x="815975" y="3160216"/>
            <a:ext cx="4819650" cy="397470"/>
          </a:xfrm>
          <a:prstGeom prst="roundRect">
            <a:avLst>
              <a:gd name="adj" fmla="val 15177"/>
            </a:avLst>
          </a:prstGeom>
          <a:solidFill>
            <a:srgbClr val="FEFEFF"/>
          </a:solidFill>
          <a:ln w="6350">
            <a:solidFill>
              <a:srgbClr val="DCE3F0"/>
            </a:solidFill>
            <a:prstDash val="solid"/>
          </a:ln>
        </p:spPr>
        <p:txBody>
          <a:bodyPr wrap="square" lIns="137906" tIns="74406" rIns="2651" bIns="49006" rtlCol="0" anchor="t">
            <a:normAutofit/>
          </a:bodyPr>
          <a:lstStyle/>
          <a:p>
            <a:pPr algn="l"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Lookup</a:t>
            </a:r>
            <a:r>
              <a:rPr lang="en-US" sz="1200" dirty="0">
                <a:solidFill>
                  <a:srgbClr val="1B2A4A"/>
                </a:solidFill>
                <a:latin typeface="JetBrains Mono" pitchFamily="49" charset="0"/>
                <a:ea typeface="JetBrains Mono" pitchFamily="49" charset="-122"/>
                <a:cs typeface="JetBrains Mono" pitchFamily="49" charset="-120"/>
              </a:rPr>
              <a:t> EmpleadoID → EmpleadoKey</a:t>
            </a:r>
            <a:endParaRPr lang="en-US" sz="1200" dirty="0"/>
          </a:p>
        </p:txBody>
      </p:sp>
      <p:pic>
        <p:nvPicPr>
          <p:cNvPr id="9" name="Image 2" descr="arrow-down">    </p:cNvPr>
          <p:cNvPicPr>
            <a:picLocks noChangeAspect="1"/>
          </p:cNvPicPr>
          <p:nvPr/>
        </p:nvPicPr>
        <p:blipFill>
          <a:blip r:embed="rId3"/>
          <a:srcRect l="0" r="0" t="0" b="0"/>
          <a:stretch/>
        </p:blipFill>
        <p:spPr>
          <a:xfrm>
            <a:off x="3149600" y="3598962"/>
            <a:ext cx="152400" cy="203200"/>
          </a:xfrm>
          <a:prstGeom prst="rect">
            <a:avLst/>
          </a:prstGeom>
        </p:spPr>
      </p:pic>
      <p:sp>
        <p:nvSpPr>
          <p:cNvPr id="10" name="Text 5"/>
          <p:cNvSpPr/>
          <p:nvPr/>
        </p:nvSpPr>
        <p:spPr>
          <a:xfrm>
            <a:off x="815975" y="3843437"/>
            <a:ext cx="4819650" cy="397470"/>
          </a:xfrm>
          <a:prstGeom prst="roundRect">
            <a:avLst>
              <a:gd name="adj" fmla="val 15177"/>
            </a:avLst>
          </a:prstGeom>
          <a:solidFill>
            <a:srgbClr val="FEFEFF"/>
          </a:solidFill>
          <a:ln w="6350">
            <a:solidFill>
              <a:srgbClr val="DCE3F0"/>
            </a:solidFill>
            <a:prstDash val="solid"/>
          </a:ln>
        </p:spPr>
        <p:txBody>
          <a:bodyPr wrap="square" lIns="137906" tIns="74406" rIns="2651" bIns="49006" rtlCol="0" anchor="t">
            <a:normAutofit/>
          </a:bodyPr>
          <a:lstStyle/>
          <a:p>
            <a:pPr algn="l"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Lookup</a:t>
            </a:r>
            <a:r>
              <a:rPr lang="en-US" sz="1200" dirty="0">
                <a:solidFill>
                  <a:srgbClr val="1B2A4A"/>
                </a:solidFill>
                <a:latin typeface="JetBrains Mono" pitchFamily="49" charset="0"/>
                <a:ea typeface="JetBrains Mono" pitchFamily="49" charset="-122"/>
                <a:cs typeface="JetBrains Mono" pitchFamily="49" charset="-120"/>
              </a:rPr>
              <a:t> ProductoID → ProductoKey</a:t>
            </a:r>
            <a:endParaRPr lang="en-US" sz="1200" dirty="0"/>
          </a:p>
        </p:txBody>
      </p:sp>
      <p:pic>
        <p:nvPicPr>
          <p:cNvPr id="11" name="Image 3" descr="arrow-down">    </p:cNvPr>
          <p:cNvPicPr>
            <a:picLocks noChangeAspect="1"/>
          </p:cNvPicPr>
          <p:nvPr/>
        </p:nvPicPr>
        <p:blipFill>
          <a:blip r:embed="rId4"/>
          <a:srcRect l="0" r="0" t="0" b="0"/>
          <a:stretch/>
        </p:blipFill>
        <p:spPr>
          <a:xfrm>
            <a:off x="3149600" y="4282182"/>
            <a:ext cx="152400" cy="203200"/>
          </a:xfrm>
          <a:prstGeom prst="rect">
            <a:avLst/>
          </a:prstGeom>
        </p:spPr>
      </p:pic>
      <p:sp>
        <p:nvSpPr>
          <p:cNvPr id="12" name="Text 6"/>
          <p:cNvSpPr/>
          <p:nvPr/>
        </p:nvSpPr>
        <p:spPr>
          <a:xfrm>
            <a:off x="815975" y="4526657"/>
            <a:ext cx="4819650" cy="397470"/>
          </a:xfrm>
          <a:prstGeom prst="roundRect">
            <a:avLst>
              <a:gd name="adj" fmla="val 15177"/>
            </a:avLst>
          </a:prstGeom>
          <a:solidFill>
            <a:srgbClr val="FEFEFF"/>
          </a:solidFill>
          <a:ln w="6350">
            <a:solidFill>
              <a:srgbClr val="DCE3F0"/>
            </a:solidFill>
            <a:prstDash val="solid"/>
          </a:ln>
        </p:spPr>
        <p:txBody>
          <a:bodyPr wrap="square" lIns="137906" tIns="74406" rIns="2651" bIns="49006" rtlCol="0" anchor="t">
            <a:normAutofit/>
          </a:bodyPr>
          <a:lstStyle/>
          <a:p>
            <a:pPr algn="l" indent="0" marL="0">
              <a:lnSpc>
                <a:spcPts val="1680"/>
              </a:lnSpc>
              <a:buNone/>
            </a:pPr>
            <a:r>
              <a:rPr lang="en-US" sz="1200" b="1" dirty="0">
                <a:solidFill>
                  <a:srgbClr val="1B2A4A"/>
                </a:solidFill>
                <a:latin typeface="JetBrains Mono" pitchFamily="49" charset="0"/>
                <a:ea typeface="JetBrains Mono" pitchFamily="49" charset="-122"/>
                <a:cs typeface="JetBrains Mono" pitchFamily="49" charset="-120"/>
              </a:rPr>
              <a:t>Lookup</a:t>
            </a:r>
            <a:r>
              <a:rPr lang="en-US" sz="1200" dirty="0">
                <a:solidFill>
                  <a:srgbClr val="1B2A4A"/>
                </a:solidFill>
                <a:latin typeface="JetBrains Mono" pitchFamily="49" charset="0"/>
                <a:ea typeface="JetBrains Mono" pitchFamily="49" charset="-122"/>
                <a:cs typeface="JetBrains Mono" pitchFamily="49" charset="-120"/>
              </a:rPr>
              <a:t> TransportistaID → TransportistaKey</a:t>
            </a:r>
            <a:endParaRPr lang="en-US" sz="1200" dirty="0"/>
          </a:p>
        </p:txBody>
      </p:sp>
      <p:pic>
        <p:nvPicPr>
          <p:cNvPr id="13" name="Image 4" descr="arrow-down">    </p:cNvPr>
          <p:cNvPicPr>
            <a:picLocks noChangeAspect="1"/>
          </p:cNvPicPr>
          <p:nvPr/>
        </p:nvPicPr>
        <p:blipFill>
          <a:blip r:embed="rId5"/>
          <a:srcRect l="0" r="0" t="0" b="0"/>
          <a:stretch/>
        </p:blipFill>
        <p:spPr>
          <a:xfrm>
            <a:off x="3149600" y="4965402"/>
            <a:ext cx="152400" cy="203200"/>
          </a:xfrm>
          <a:prstGeom prst="rect">
            <a:avLst/>
          </a:prstGeom>
        </p:spPr>
      </p:pic>
      <p:sp>
        <p:nvSpPr>
          <p:cNvPr id="14" name="Text 7"/>
          <p:cNvSpPr/>
          <p:nvPr/>
        </p:nvSpPr>
        <p:spPr>
          <a:xfrm>
            <a:off x="812800" y="5206702"/>
            <a:ext cx="4826000" cy="391120"/>
          </a:xfrm>
          <a:prstGeom prst="roundRect">
            <a:avLst>
              <a:gd name="adj" fmla="val 16235"/>
            </a:avLst>
          </a:prstGeom>
          <a:solidFill>
            <a:srgbClr val="2459E0"/>
          </a:solidFill>
          <a:ln/>
        </p:spPr>
        <p:txBody>
          <a:bodyPr wrap="square" lIns="133801" tIns="70301" rIns="0" bIns="44901" rtlCol="0" anchor="t">
            <a:normAutofit/>
          </a:bodyPr>
          <a:lstStyle/>
          <a:p>
            <a:pPr algn="l" indent="0" marL="0">
              <a:lnSpc>
                <a:spcPts val="1680"/>
              </a:lnSpc>
              <a:buNone/>
            </a:pPr>
            <a:r>
              <a:rPr lang="en-US" sz="1200" b="1" dirty="0">
                <a:solidFill>
                  <a:srgbClr val="F7F9FF"/>
                </a:solidFill>
                <a:latin typeface="JetBrains Mono" pitchFamily="49" charset="0"/>
                <a:ea typeface="JetBrains Mono" pitchFamily="49" charset="-122"/>
                <a:cs typeface="JetBrains Mono" pitchFamily="49" charset="-120"/>
              </a:rPr>
              <a:t>OLE DB Destination</a:t>
            </a:r>
            <a:r>
              <a:rPr lang="en-US" sz="1200" dirty="0">
                <a:solidFill>
                  <a:srgbClr val="F7F9FF"/>
                </a:solidFill>
                <a:latin typeface="JetBrains Mono" pitchFamily="49" charset="0"/>
                <a:ea typeface="JetBrains Mono" pitchFamily="49" charset="-122"/>
                <a:cs typeface="JetBrains Mono" pitchFamily="49" charset="-120"/>
              </a:rPr>
              <a:t> · Fact_Detalle_Venta</a:t>
            </a:r>
            <a:endParaRPr lang="en-US" sz="1200" dirty="0"/>
          </a:p>
        </p:txBody>
      </p:sp>
      <p:sp>
        <p:nvSpPr>
          <p:cNvPr id="15" name="Shape 8"/>
          <p:cNvSpPr/>
          <p:nvPr/>
        </p:nvSpPr>
        <p:spPr>
          <a:xfrm>
            <a:off x="6048375" y="1806476"/>
            <a:ext cx="5327650" cy="1949152"/>
          </a:xfrm>
          <a:prstGeom prst="roundRect">
            <a:avLst>
              <a:gd name="adj" fmla="val 3747"/>
            </a:avLst>
          </a:prstGeom>
          <a:solidFill>
            <a:srgbClr val="FEFEFF"/>
          </a:solidFill>
          <a:ln w="6350">
            <a:solidFill>
              <a:srgbClr val="DCE3F0"/>
            </a:solidFill>
            <a:prstDash val="solid"/>
          </a:ln>
        </p:spPr>
      </p:sp>
      <p:sp>
        <p:nvSpPr>
          <p:cNvPr id="16" name="Text 9"/>
          <p:cNvSpPr/>
          <p:nvPr/>
        </p:nvSpPr>
        <p:spPr>
          <a:xfrm>
            <a:off x="6254750" y="2012851"/>
            <a:ext cx="506234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4A"/>
                </a:solidFill>
                <a:latin typeface="IBM Plex Sans" pitchFamily="34" charset="0"/>
                <a:ea typeface="IBM Plex Sans" pitchFamily="34" charset="-122"/>
                <a:cs typeface="IBM Plex Sans" pitchFamily="34" charset="-120"/>
              </a:rPr>
              <a:t>Calculado en la consulta de origen</a:t>
            </a:r>
            <a:endParaRPr lang="en-US" sz="1500" dirty="0"/>
          </a:p>
        </p:txBody>
      </p:sp>
      <p:sp>
        <p:nvSpPr>
          <p:cNvPr id="17" name="Text 10"/>
          <p:cNvSpPr/>
          <p:nvPr/>
        </p:nvSpPr>
        <p:spPr>
          <a:xfrm>
            <a:off x="6254750" y="2330351"/>
            <a:ext cx="5062347"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B4660"/>
                </a:solidFill>
                <a:latin typeface="JetBrains Mono" pitchFamily="49" charset="0"/>
                <a:ea typeface="JetBrains Mono" pitchFamily="49" charset="-122"/>
                <a:cs typeface="JetBrains Mono" pitchFamily="49" charset="-120"/>
              </a:rPr>
              <a:t>MontoBruto = Cantidad × Precio</a:t>
            </a:r>
            <a:endParaRPr lang="en-US" sz="1200" dirty="0"/>
          </a:p>
        </p:txBody>
      </p:sp>
      <p:sp>
        <p:nvSpPr>
          <p:cNvPr id="18" name="Text 11"/>
          <p:cNvSpPr/>
          <p:nvPr/>
        </p:nvSpPr>
        <p:spPr>
          <a:xfrm>
            <a:off x="6254750" y="2574131"/>
            <a:ext cx="5062347"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B4660"/>
                </a:solidFill>
                <a:latin typeface="JetBrains Mono" pitchFamily="49" charset="0"/>
                <a:ea typeface="JetBrains Mono" pitchFamily="49" charset="-122"/>
                <a:cs typeface="JetBrains Mono" pitchFamily="49" charset="-120"/>
              </a:rPr>
              <a:t>MontoDescuento = Bruto × Descuento</a:t>
            </a:r>
            <a:endParaRPr lang="en-US" sz="1200" dirty="0"/>
          </a:p>
        </p:txBody>
      </p:sp>
      <p:sp>
        <p:nvSpPr>
          <p:cNvPr id="19" name="Text 12"/>
          <p:cNvSpPr/>
          <p:nvPr/>
        </p:nvSpPr>
        <p:spPr>
          <a:xfrm>
            <a:off x="6254750" y="2817912"/>
            <a:ext cx="5062347"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B4660"/>
                </a:solidFill>
                <a:latin typeface="JetBrains Mono" pitchFamily="49" charset="0"/>
                <a:ea typeface="JetBrains Mono" pitchFamily="49" charset="-122"/>
                <a:cs typeface="JetBrains Mono" pitchFamily="49" charset="-120"/>
              </a:rPr>
              <a:t>MontoNeto = Bruto − Descuento</a:t>
            </a:r>
            <a:endParaRPr lang="en-US" sz="1200" dirty="0"/>
          </a:p>
        </p:txBody>
      </p:sp>
      <p:sp>
        <p:nvSpPr>
          <p:cNvPr id="20" name="Text 13"/>
          <p:cNvSpPr/>
          <p:nvPr/>
        </p:nvSpPr>
        <p:spPr>
          <a:xfrm>
            <a:off x="6254750" y="3061692"/>
            <a:ext cx="5062347"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B4660"/>
                </a:solidFill>
                <a:latin typeface="JetBrains Mono" pitchFamily="49" charset="0"/>
                <a:ea typeface="JetBrains Mono" pitchFamily="49" charset="-122"/>
                <a:cs typeface="JetBrains Mono" pitchFamily="49" charset="-120"/>
              </a:rPr>
              <a:t>DiasDespacho = Envío − Orden</a:t>
            </a:r>
            <a:endParaRPr lang="en-US" sz="1200" dirty="0"/>
          </a:p>
        </p:txBody>
      </p:sp>
      <p:sp>
        <p:nvSpPr>
          <p:cNvPr id="21" name="Text 14"/>
          <p:cNvSpPr/>
          <p:nvPr/>
        </p:nvSpPr>
        <p:spPr>
          <a:xfrm>
            <a:off x="6254750" y="3305473"/>
            <a:ext cx="5062347"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B4660"/>
                </a:solidFill>
                <a:latin typeface="JetBrains Mono" pitchFamily="49" charset="0"/>
                <a:ea typeface="JetBrains Mono" pitchFamily="49" charset="-122"/>
                <a:cs typeface="JetBrains Mono" pitchFamily="49" charset="-120"/>
              </a:rPr>
              <a:t>FechaKey = CONVERT(…, 112)</a:t>
            </a:r>
            <a:endParaRPr lang="en-US" sz="1200" dirty="0"/>
          </a:p>
        </p:txBody>
      </p:sp>
      <p:sp>
        <p:nvSpPr>
          <p:cNvPr id="22" name="Text 15"/>
          <p:cNvSpPr/>
          <p:nvPr/>
        </p:nvSpPr>
        <p:spPr>
          <a:xfrm>
            <a:off x="812800" y="6236990"/>
            <a:ext cx="19303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Kent Foods DW · Fase 1</a:t>
            </a:r>
            <a:endParaRPr lang="en-US" sz="1200" dirty="0"/>
          </a:p>
        </p:txBody>
      </p:sp>
      <p:sp>
        <p:nvSpPr>
          <p:cNvPr id="23" name="Text 16"/>
          <p:cNvSpPr/>
          <p:nvPr/>
        </p:nvSpPr>
        <p:spPr>
          <a:xfrm>
            <a:off x="11145441" y="623699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85"/>
                </a:solidFill>
                <a:latin typeface="JetBrains Mono" pitchFamily="49" charset="0"/>
                <a:ea typeface="JetBrains Mono" pitchFamily="49" charset="-122"/>
                <a:cs typeface="JetBrains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3F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459E0"/>
                </a:solidFill>
                <a:latin typeface="JetBrains Mono" pitchFamily="49" charset="0"/>
                <a:ea typeface="JetBrains Mono" pitchFamily="49" charset="-122"/>
                <a:cs typeface="JetBrains Mono" pitchFamily="49" charset="-120"/>
              </a:rPr>
              <a:t>VALIDACIÓN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A"/>
                </a:solidFill>
                <a:latin typeface="IBM Plex Sans" pitchFamily="34" charset="0"/>
                <a:ea typeface="IBM Plex Sans" pitchFamily="34" charset="-122"/>
                <a:cs typeface="IBM Plex Sans" pitchFamily="34" charset="-120"/>
              </a:rPr>
              <a:t>La carga cuadra con el origen</a:t>
            </a:r>
            <a:endParaRPr lang="en-US" sz="3200" dirty="0"/>
          </a:p>
        </p:txBody>
      </p:sp>
      <p:sp>
        <p:nvSpPr>
          <p:cNvPr id="4" name="Shape 2"/>
          <p:cNvSpPr/>
          <p:nvPr/>
        </p:nvSpPr>
        <p:spPr>
          <a:xfrm>
            <a:off x="812800" y="1854101"/>
            <a:ext cx="3175000" cy="3329583"/>
          </a:xfrm>
          <a:prstGeom prst="roundRect">
            <a:avLst>
              <a:gd name="adj" fmla="val 3200"/>
            </a:avLst>
          </a:prstGeom>
          <a:solidFill>
            <a:srgbClr val="2459E0"/>
          </a:solidFill>
          <a:ln/>
        </p:spPr>
      </p:sp>
      <p:sp>
        <p:nvSpPr>
          <p:cNvPr id="5" name="Text 3"/>
          <p:cNvSpPr/>
          <p:nvPr/>
        </p:nvSpPr>
        <p:spPr>
          <a:xfrm>
            <a:off x="1066800" y="2108101"/>
            <a:ext cx="274701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D166"/>
                </a:solidFill>
                <a:latin typeface="IBM Plex Sans" pitchFamily="34" charset="0"/>
                <a:ea typeface="IBM Plex Sans" pitchFamily="34" charset="-122"/>
                <a:cs typeface="IBM Plex Sans" pitchFamily="34" charset="-120"/>
              </a:rPr>
              <a:t>19 / 19</a:t>
            </a:r>
            <a:endParaRPr lang="en-US" sz="4800" dirty="0"/>
          </a:p>
        </p:txBody>
      </p:sp>
      <p:sp>
        <p:nvSpPr>
          <p:cNvPr id="6" name="Text 4"/>
          <p:cNvSpPr/>
          <p:nvPr/>
        </p:nvSpPr>
        <p:spPr>
          <a:xfrm>
            <a:off x="1066800" y="2844701"/>
            <a:ext cx="2747010"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7F9FF"/>
                </a:solidFill>
                <a:latin typeface="IBM Plex Sans" pitchFamily="34" charset="0"/>
                <a:ea typeface="IBM Plex Sans" pitchFamily="34" charset="-122"/>
                <a:cs typeface="IBM Plex Sans" pitchFamily="34" charset="-120"/>
              </a:rPr>
              <a:t>controles OK en 03_validar_carga.sql</a:t>
            </a:r>
            <a:endParaRPr lang="en-US" sz="1500" dirty="0"/>
          </a:p>
        </p:txBody>
      </p:sp>
      <p:sp>
        <p:nvSpPr>
          <p:cNvPr id="7" name="Text 5"/>
          <p:cNvSpPr/>
          <p:nvPr/>
        </p:nvSpPr>
        <p:spPr>
          <a:xfrm>
            <a:off x="1165606" y="3467001"/>
            <a:ext cx="2640584" cy="1488083"/>
          </a:xfrm>
          <a:prstGeom prst="rect">
            <a:avLst/>
          </a:prstGeom>
          <a:noFill/>
          <a:ln/>
        </p:spPr>
        <p:txBody>
          <a:bodyPr wrap="square" lIns="0" tIns="0" rIns="0" bIns="0" rtlCol="0" anchor="t">
            <a:normAutofit/>
          </a:bodyPr>
          <a:lstStyle/>
          <a:p>
            <a:pPr algn="l" marL="155194" indent="-155194">
              <a:lnSpc>
                <a:spcPts val="1920"/>
              </a:lnSpc>
              <a:buSzPct val="100000"/>
              <a:buChar char="•"/>
            </a:pPr>
            <a:r>
              <a:rPr lang="en-US" sz="1200" dirty="0">
                <a:solidFill>
                  <a:srgbClr val="D6E2FF"/>
                </a:solidFill>
                <a:latin typeface="IBM Plex Sans" pitchFamily="34" charset="0"/>
                <a:ea typeface="IBM Plex Sans" pitchFamily="34" charset="-122"/>
                <a:cs typeface="IBM Plex Sans" pitchFamily="34" charset="-120"/>
              </a:rPr>
              <a:t>Filas por tabla</a:t>
            </a:r>
            <a:endParaRPr lang="en-US" sz="1200" dirty="0"/>
          </a:p>
          <a:p>
            <a:pPr algn="l" marL="155194" indent="-155194">
              <a:lnSpc>
                <a:spcPts val="1920"/>
              </a:lnSpc>
              <a:buSzPct val="100000"/>
              <a:buChar char="•"/>
            </a:pPr>
            <a:r>
              <a:rPr lang="en-US" sz="1200" dirty="0">
                <a:solidFill>
                  <a:srgbClr val="D6E2FF"/>
                </a:solidFill>
                <a:latin typeface="IBM Plex Sans" pitchFamily="34" charset="0"/>
                <a:ea typeface="IBM Plex Sans" pitchFamily="34" charset="-122"/>
                <a:cs typeface="IBM Plex Sans" pitchFamily="34" charset="-120"/>
              </a:rPr>
              <a:t>Órdenes, unidades y montos</a:t>
            </a:r>
            <a:endParaRPr lang="en-US" sz="1200" dirty="0"/>
          </a:p>
          <a:p>
            <a:pPr algn="l" marL="155194" indent="-155194">
              <a:lnSpc>
                <a:spcPts val="1920"/>
              </a:lnSpc>
              <a:buSzPct val="100000"/>
              <a:buChar char="•"/>
            </a:pPr>
            <a:r>
              <a:rPr lang="en-US" sz="1200" dirty="0">
                <a:solidFill>
                  <a:srgbClr val="D6E2FF"/>
                </a:solidFill>
                <a:latin typeface="IBM Plex Sans" pitchFamily="34" charset="0"/>
                <a:ea typeface="IBM Plex Sans" pitchFamily="34" charset="-122"/>
                <a:cs typeface="IBM Plex Sans" pitchFamily="34" charset="-120"/>
              </a:rPr>
              <a:t>NULL de despacho consistentes</a:t>
            </a:r>
            <a:endParaRPr lang="en-US" sz="1200" dirty="0"/>
          </a:p>
          <a:p>
            <a:pPr algn="l" marL="155194" indent="-155194">
              <a:lnSpc>
                <a:spcPts val="1920"/>
              </a:lnSpc>
              <a:buSzPct val="100000"/>
              <a:buChar char="•"/>
            </a:pPr>
            <a:r>
              <a:rPr lang="en-US" sz="1200" dirty="0">
                <a:solidFill>
                  <a:srgbClr val="D6E2FF"/>
                </a:solidFill>
                <a:latin typeface="IBM Plex Sans" pitchFamily="34" charset="0"/>
                <a:ea typeface="IBM Plex Sans" pitchFamily="34" charset="-122"/>
                <a:cs typeface="IBM Plex Sans" pitchFamily="34" charset="-120"/>
              </a:rPr>
              <a:t>Montos bien calculados</a:t>
            </a:r>
            <a:endParaRPr lang="en-US" sz="1200" dirty="0"/>
          </a:p>
          <a:p>
            <a:pPr algn="l" marL="155194" indent="-155194">
              <a:lnSpc>
                <a:spcPts val="1920"/>
              </a:lnSpc>
              <a:buSzPct val="100000"/>
              <a:buChar char="•"/>
            </a:pPr>
            <a:r>
              <a:rPr lang="en-US" sz="1200" dirty="0">
                <a:solidFill>
                  <a:srgbClr val="D6E2FF"/>
                </a:solidFill>
                <a:latin typeface="IBM Plex Sans" pitchFamily="34" charset="0"/>
                <a:ea typeface="IBM Plex Sans" pitchFamily="34" charset="-122"/>
                <a:cs typeface="IBM Plex Sans" pitchFamily="34" charset="-120"/>
              </a:rPr>
              <a:t>Regiones sin espacios, claves desde 1</a:t>
            </a:r>
            <a:endParaRPr lang="en-US" sz="1200" dirty="0"/>
          </a:p>
        </p:txBody>
      </p:sp>
      <p:sp>
        <p:nvSpPr>
          <p:cNvPr id="8" name="Shape 6"/>
          <p:cNvSpPr/>
          <p:nvPr/>
        </p:nvSpPr>
        <p:spPr>
          <a:xfrm>
            <a:off x="4394200" y="1854101"/>
            <a:ext cx="6985000" cy="2661642"/>
          </a:xfrm>
          <a:prstGeom prst="rect">
            <a:avLst/>
          </a:prstGeom>
          <a:solidFill>
            <a:srgbClr val="FEFEF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406900" y="1866801"/>
          <a:ext cx="6972300" cy="2648942"/>
        </p:xfrm>
        <a:graphic>
          <a:graphicData uri="http://schemas.openxmlformats.org/drawingml/2006/table">
            <a:tbl>
              <a:tblPr/>
              <a:tblGrid>
                <a:gridCol w="2788920"/>
                <a:gridCol w="1533906"/>
                <a:gridCol w="1533906"/>
                <a:gridCol w="1115568"/>
              </a:tblGrid>
              <a:tr h="378420">
                <a:tc>
                  <a:txBody>
                    <a:bodyPr/>
                    <a:lstStyle/>
                    <a:p>
                      <a:pPr indent="0" marL="0">
                        <a:lnSpc>
                          <a:spcPts val="1680"/>
                        </a:lnSpc>
                        <a:buNone/>
                      </a:pPr>
                      <a:r>
                        <a:rPr lang="en-US" sz="1200" b="1" dirty="0">
                          <a:solidFill>
                            <a:srgbClr val="1B2A4A"/>
                          </a:solidFill>
                          <a:latin typeface="IBM Plex Sans" pitchFamily="34" charset="0"/>
                          <a:ea typeface="IBM Plex Sans" pitchFamily="34" charset="-122"/>
                          <a:cs typeface="IBM Plex Sans" pitchFamily="34" charset="-120"/>
                        </a:rPr>
                        <a:t>Tabla</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B0B8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8"/>
                      </a:solidFill>
                      <a:prstDash val="solid"/>
                      <a:round/>
                      <a:headEnd type="none" w="med" len="med"/>
                      <a:tailEnd type="none" w="med" len="med"/>
                    </a:lnB>
                    <a:solidFill>
                      <a:srgbClr val="DCE6FB"/>
                    </a:solidFill>
                  </a:tcPr>
                </a:tc>
                <a:tc>
                  <a:txBody>
                    <a:bodyPr/>
                    <a:lstStyle/>
                    <a:p>
                      <a:pPr algn="r" indent="0" marL="0">
                        <a:lnSpc>
                          <a:spcPts val="1680"/>
                        </a:lnSpc>
                        <a:buNone/>
                      </a:pPr>
                      <a:r>
                        <a:rPr lang="en-US" sz="1200" b="1" dirty="0">
                          <a:solidFill>
                            <a:srgbClr val="1B2A4A"/>
                          </a:solidFill>
                          <a:latin typeface="IBM Plex Sans" pitchFamily="34" charset="0"/>
                          <a:ea typeface="IBM Plex Sans" pitchFamily="34" charset="-122"/>
                          <a:cs typeface="IBM Plex Sans" pitchFamily="34" charset="-120"/>
                        </a:rPr>
                        <a:t>Esperado</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B0B8C8"/>
                      </a:solidFill>
                      <a:prstDash val="solid"/>
                      <a:round/>
                      <a:headEnd type="none" w="med" len="med"/>
                      <a:tailEnd type="none" w="med" len="med"/>
                    </a:lnL>
                    <a:lnR w="12700" cap="flat" cmpd="sng" algn="ctr">
                      <a:solidFill>
                        <a:srgbClr val="B0B8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8"/>
                      </a:solidFill>
                      <a:prstDash val="solid"/>
                      <a:round/>
                      <a:headEnd type="none" w="med" len="med"/>
                      <a:tailEnd type="none" w="med" len="med"/>
                    </a:lnB>
                    <a:solidFill>
                      <a:srgbClr val="DCE6FB"/>
                    </a:solidFill>
                  </a:tcPr>
                </a:tc>
                <a:tc>
                  <a:txBody>
                    <a:bodyPr/>
                    <a:lstStyle/>
                    <a:p>
                      <a:pPr algn="r" indent="0" marL="0">
                        <a:lnSpc>
                          <a:spcPts val="1680"/>
                        </a:lnSpc>
                        <a:buNone/>
                      </a:pPr>
                      <a:r>
                        <a:rPr lang="en-US" sz="1200" b="1" dirty="0">
                          <a:solidFill>
                            <a:srgbClr val="1B2A4A"/>
                          </a:solidFill>
                          <a:latin typeface="IBM Plex Sans" pitchFamily="34" charset="0"/>
                          <a:ea typeface="IBM Plex Sans" pitchFamily="34" charset="-122"/>
                          <a:cs typeface="IBM Plex Sans" pitchFamily="34" charset="-120"/>
                        </a:rPr>
                        <a:t>Cargado</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B0B8C8"/>
                      </a:solidFill>
                      <a:prstDash val="solid"/>
                      <a:round/>
                      <a:headEnd type="none" w="med" len="med"/>
                      <a:tailEnd type="none" w="med" len="med"/>
                    </a:lnL>
                    <a:lnR w="12700" cap="flat" cmpd="sng" algn="ctr">
                      <a:solidFill>
                        <a:srgbClr val="B0B8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8"/>
                      </a:solidFill>
                      <a:prstDash val="solid"/>
                      <a:round/>
                      <a:headEnd type="none" w="med" len="med"/>
                      <a:tailEnd type="none" w="med" len="med"/>
                    </a:lnB>
                    <a:solidFill>
                      <a:srgbClr val="DCE6FB"/>
                    </a:solidFill>
                  </a:tcPr>
                </a:tc>
                <a:tc>
                  <a:txBody>
                    <a:bodyPr/>
                    <a:lstStyle/>
                    <a:p>
                      <a:pPr algn="r" indent="0" marL="0">
                        <a:lnSpc>
                          <a:spcPts val="1680"/>
                        </a:lnSpc>
                        <a:buNone/>
                      </a:pPr>
                      <a:r>
                        <a:rPr lang="en-US" sz="1200" b="1" dirty="0">
                          <a:solidFill>
                            <a:srgbClr val="1B2A4A"/>
                          </a:solidFill>
                          <a:latin typeface="IBM Plex Sans" pitchFamily="34" charset="0"/>
                          <a:ea typeface="IBM Plex Sans" pitchFamily="34" charset="-122"/>
                          <a:cs typeface="IBM Plex Sans" pitchFamily="34" charset="-120"/>
                        </a:rPr>
                        <a:t>Estado</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B0B8C8"/>
                      </a:solidFill>
                      <a:prstDash val="solid"/>
                      <a:round/>
                      <a:headEnd type="none" w="med" len="med"/>
                      <a:tailEnd type="none" w="med" len="med"/>
                    </a:lnL>
                    <a:lnR w="12700" cap="flat" cmpd="sng" algn="ctr">
                      <a:solidFill>
                        <a:srgbClr val="B0B8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0B8C8"/>
                      </a:solidFill>
                      <a:prstDash val="solid"/>
                      <a:round/>
                      <a:headEnd type="none" w="med" len="med"/>
                      <a:tailEnd type="none" w="med" len="med"/>
                    </a:lnB>
                    <a:solidFill>
                      <a:srgbClr val="DCE6FB"/>
                    </a:solidFill>
                  </a:tcPr>
                </a:tc>
              </a:tr>
              <a:tr h="378420">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Dim_Cliente</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91</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91</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0A7D63"/>
                          </a:solidFill>
                          <a:latin typeface="IBM Plex Sans" pitchFamily="34" charset="0"/>
                          <a:ea typeface="IBM Plex Sans" pitchFamily="34" charset="-122"/>
                          <a:cs typeface="IBM Plex Sans" pitchFamily="34" charset="-120"/>
                        </a:rPr>
                        <a:t>OK</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0B8C8"/>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8420">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Dim_Producto</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77</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77</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0A7D63"/>
                          </a:solidFill>
                          <a:latin typeface="IBM Plex Sans" pitchFamily="34" charset="0"/>
                          <a:ea typeface="IBM Plex Sans" pitchFamily="34" charset="-122"/>
                          <a:cs typeface="IBM Plex Sans" pitchFamily="34" charset="-120"/>
                        </a:rPr>
                        <a:t>OK</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8420">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Dim_Empleado</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0A7D63"/>
                          </a:solidFill>
                          <a:latin typeface="IBM Plex Sans" pitchFamily="34" charset="0"/>
                          <a:ea typeface="IBM Plex Sans" pitchFamily="34" charset="-122"/>
                          <a:cs typeface="IBM Plex Sans" pitchFamily="34" charset="-120"/>
                        </a:rPr>
                        <a:t>OK</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8420">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Dim_Transportista</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0A7D63"/>
                          </a:solidFill>
                          <a:latin typeface="IBM Plex Sans" pitchFamily="34" charset="0"/>
                          <a:ea typeface="IBM Plex Sans" pitchFamily="34" charset="-122"/>
                          <a:cs typeface="IBM Plex Sans" pitchFamily="34" charset="-120"/>
                        </a:rPr>
                        <a:t>OK</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8420">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Dim_Tiempo</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1.096</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1.096</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0A7D63"/>
                          </a:solidFill>
                          <a:latin typeface="IBM Plex Sans" pitchFamily="34" charset="0"/>
                          <a:ea typeface="IBM Plex Sans" pitchFamily="34" charset="-122"/>
                          <a:cs typeface="IBM Plex Sans" pitchFamily="34" charset="-120"/>
                        </a:rPr>
                        <a:t>OK</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78420">
                <a:tc>
                  <a:txBody>
                    <a:bodyPr/>
                    <a:lstStyle/>
                    <a:p>
                      <a:pP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Fact_Detalle_Venta</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2.155</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3B4660"/>
                          </a:solidFill>
                          <a:latin typeface="IBM Plex Sans" pitchFamily="34" charset="0"/>
                          <a:ea typeface="IBM Plex Sans" pitchFamily="34" charset="-122"/>
                          <a:cs typeface="IBM Plex Sans" pitchFamily="34" charset="-120"/>
                        </a:rPr>
                        <a:t>2.155</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0A7D63"/>
                          </a:solidFill>
                          <a:latin typeface="IBM Plex Sans" pitchFamily="34" charset="0"/>
                          <a:ea typeface="IBM Plex Sans" pitchFamily="34" charset="-122"/>
                          <a:cs typeface="IBM Plex Sans" pitchFamily="34" charset="-120"/>
                        </a:rPr>
                        <a:t>OK</a:t>
                      </a:r>
                      <a:endParaRPr lang="en-US" sz="1200" dirty="0">
                        <a:latin typeface="IBM Plex Sans" charset="0"/>
                        <a:ea typeface="IBM Plex Sans" charset="0"/>
                        <a:cs typeface="IBM Plex Sans" charset="0"/>
                      </a:endParaRPr>
                    </a:p>
                  </a:txBody>
                  <a:tcPr marL="152400" marR="1524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Shape 7"/>
          <p:cNvSpPr/>
          <p:nvPr/>
        </p:nvSpPr>
        <p:spPr>
          <a:xfrm>
            <a:off x="4397375" y="4722118"/>
            <a:ext cx="1663700" cy="740370"/>
          </a:xfrm>
          <a:prstGeom prst="roundRect">
            <a:avLst>
              <a:gd name="adj" fmla="val 8148"/>
            </a:avLst>
          </a:prstGeom>
          <a:solidFill>
            <a:srgbClr val="FEFEFF"/>
          </a:solidFill>
          <a:ln w="6350">
            <a:solidFill>
              <a:srgbClr val="D0DAEC"/>
            </a:solidFill>
            <a:prstDash val="solid"/>
          </a:ln>
        </p:spPr>
      </p:sp>
      <p:sp>
        <p:nvSpPr>
          <p:cNvPr id="11" name="Text 8"/>
          <p:cNvSpPr/>
          <p:nvPr/>
        </p:nvSpPr>
        <p:spPr>
          <a:xfrm>
            <a:off x="4489450" y="4839593"/>
            <a:ext cx="15303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830</a:t>
            </a:r>
            <a:endParaRPr lang="en-US" sz="1500" dirty="0"/>
          </a:p>
        </p:txBody>
      </p:sp>
      <p:sp>
        <p:nvSpPr>
          <p:cNvPr id="12" name="Text 9"/>
          <p:cNvSpPr/>
          <p:nvPr/>
        </p:nvSpPr>
        <p:spPr>
          <a:xfrm>
            <a:off x="4489450" y="5131693"/>
            <a:ext cx="1530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órdenes</a:t>
            </a:r>
            <a:endParaRPr lang="en-US" sz="1200" dirty="0"/>
          </a:p>
        </p:txBody>
      </p:sp>
      <p:sp>
        <p:nvSpPr>
          <p:cNvPr id="13" name="Shape 10"/>
          <p:cNvSpPr/>
          <p:nvPr/>
        </p:nvSpPr>
        <p:spPr>
          <a:xfrm>
            <a:off x="6169025" y="4722118"/>
            <a:ext cx="1663700" cy="740370"/>
          </a:xfrm>
          <a:prstGeom prst="roundRect">
            <a:avLst>
              <a:gd name="adj" fmla="val 8148"/>
            </a:avLst>
          </a:prstGeom>
          <a:solidFill>
            <a:srgbClr val="FEFEFF"/>
          </a:solidFill>
          <a:ln w="6350">
            <a:solidFill>
              <a:srgbClr val="D0DAEC"/>
            </a:solidFill>
            <a:prstDash val="solid"/>
          </a:ln>
        </p:spPr>
      </p:sp>
      <p:sp>
        <p:nvSpPr>
          <p:cNvPr id="14" name="Text 11"/>
          <p:cNvSpPr/>
          <p:nvPr/>
        </p:nvSpPr>
        <p:spPr>
          <a:xfrm>
            <a:off x="6261100" y="4839593"/>
            <a:ext cx="15303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51.317</a:t>
            </a:r>
            <a:endParaRPr lang="en-US" sz="1500" dirty="0"/>
          </a:p>
        </p:txBody>
      </p:sp>
      <p:sp>
        <p:nvSpPr>
          <p:cNvPr id="15" name="Text 12"/>
          <p:cNvSpPr/>
          <p:nvPr/>
        </p:nvSpPr>
        <p:spPr>
          <a:xfrm>
            <a:off x="6261100" y="5131693"/>
            <a:ext cx="1530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unidades</a:t>
            </a:r>
            <a:endParaRPr lang="en-US" sz="1200" dirty="0"/>
          </a:p>
        </p:txBody>
      </p:sp>
      <p:sp>
        <p:nvSpPr>
          <p:cNvPr id="16" name="Shape 13"/>
          <p:cNvSpPr/>
          <p:nvPr/>
        </p:nvSpPr>
        <p:spPr>
          <a:xfrm>
            <a:off x="7940675" y="4722118"/>
            <a:ext cx="1663700" cy="740370"/>
          </a:xfrm>
          <a:prstGeom prst="roundRect">
            <a:avLst>
              <a:gd name="adj" fmla="val 8148"/>
            </a:avLst>
          </a:prstGeom>
          <a:solidFill>
            <a:srgbClr val="FEFEFF"/>
          </a:solidFill>
          <a:ln w="6350">
            <a:solidFill>
              <a:srgbClr val="D0DAEC"/>
            </a:solidFill>
            <a:prstDash val="solid"/>
          </a:ln>
        </p:spPr>
      </p:sp>
      <p:sp>
        <p:nvSpPr>
          <p:cNvPr id="17" name="Text 14"/>
          <p:cNvSpPr/>
          <p:nvPr/>
        </p:nvSpPr>
        <p:spPr>
          <a:xfrm>
            <a:off x="8032750" y="4839593"/>
            <a:ext cx="15303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1.354.458,59</a:t>
            </a:r>
            <a:endParaRPr lang="en-US" sz="1500" dirty="0"/>
          </a:p>
        </p:txBody>
      </p:sp>
      <p:sp>
        <p:nvSpPr>
          <p:cNvPr id="18" name="Text 15"/>
          <p:cNvSpPr/>
          <p:nvPr/>
        </p:nvSpPr>
        <p:spPr>
          <a:xfrm>
            <a:off x="8032750" y="5131693"/>
            <a:ext cx="1530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bruto</a:t>
            </a:r>
            <a:endParaRPr lang="en-US" sz="1200" dirty="0"/>
          </a:p>
        </p:txBody>
      </p:sp>
      <p:sp>
        <p:nvSpPr>
          <p:cNvPr id="19" name="Shape 16"/>
          <p:cNvSpPr/>
          <p:nvPr/>
        </p:nvSpPr>
        <p:spPr>
          <a:xfrm>
            <a:off x="9712325" y="4722118"/>
            <a:ext cx="1663700" cy="740370"/>
          </a:xfrm>
          <a:prstGeom prst="roundRect">
            <a:avLst>
              <a:gd name="adj" fmla="val 8148"/>
            </a:avLst>
          </a:prstGeom>
          <a:solidFill>
            <a:srgbClr val="FEFEFF"/>
          </a:solidFill>
          <a:ln w="6350">
            <a:solidFill>
              <a:srgbClr val="D0DAEC"/>
            </a:solidFill>
            <a:prstDash val="solid"/>
          </a:ln>
        </p:spPr>
      </p:sp>
      <p:sp>
        <p:nvSpPr>
          <p:cNvPr id="20" name="Text 17"/>
          <p:cNvSpPr/>
          <p:nvPr/>
        </p:nvSpPr>
        <p:spPr>
          <a:xfrm>
            <a:off x="9804400" y="4839593"/>
            <a:ext cx="15303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2A4A"/>
                </a:solidFill>
                <a:latin typeface="IBM Plex Sans" pitchFamily="34" charset="0"/>
                <a:ea typeface="IBM Plex Sans" pitchFamily="34" charset="-122"/>
                <a:cs typeface="IBM Plex Sans" pitchFamily="34" charset="-120"/>
              </a:rPr>
              <a:t>1.265.792,76</a:t>
            </a:r>
            <a:endParaRPr lang="en-US" sz="1500" dirty="0"/>
          </a:p>
        </p:txBody>
      </p:sp>
      <p:sp>
        <p:nvSpPr>
          <p:cNvPr id="21" name="Text 18"/>
          <p:cNvSpPr/>
          <p:nvPr/>
        </p:nvSpPr>
        <p:spPr>
          <a:xfrm>
            <a:off x="9804400" y="5131693"/>
            <a:ext cx="1530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neto</a:t>
            </a:r>
            <a:endParaRPr lang="en-US" sz="1200" dirty="0"/>
          </a:p>
        </p:txBody>
      </p:sp>
      <p:sp>
        <p:nvSpPr>
          <p:cNvPr id="22" name="Text 19"/>
          <p:cNvSpPr/>
          <p:nvPr/>
        </p:nvSpPr>
        <p:spPr>
          <a:xfrm>
            <a:off x="812800" y="6236990"/>
            <a:ext cx="19303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Kent Foods DW · Fase 1</a:t>
            </a:r>
            <a:endParaRPr lang="en-US" sz="1200" dirty="0"/>
          </a:p>
        </p:txBody>
      </p:sp>
      <p:sp>
        <p:nvSpPr>
          <p:cNvPr id="23" name="Text 20"/>
          <p:cNvSpPr/>
          <p:nvPr/>
        </p:nvSpPr>
        <p:spPr>
          <a:xfrm>
            <a:off x="11145441" y="623699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85"/>
                </a:solidFill>
                <a:latin typeface="JetBrains Mono" pitchFamily="49" charset="0"/>
                <a:ea typeface="JetBrains Mono" pitchFamily="49" charset="-122"/>
                <a:cs typeface="JetBrains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3F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459E0"/>
                </a:solidFill>
                <a:latin typeface="JetBrains Mono" pitchFamily="49" charset="0"/>
                <a:ea typeface="JetBrains Mono" pitchFamily="49" charset="-122"/>
                <a:cs typeface="JetBrains Mono" pitchFamily="49" charset="-120"/>
              </a:rPr>
              <a:t>RESULTADO</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4A"/>
                </a:solidFill>
                <a:latin typeface="IBM Plex Sans" pitchFamily="34" charset="0"/>
                <a:ea typeface="IBM Plex Sans" pitchFamily="34" charset="-122"/>
                <a:cs typeface="IBM Plex Sans" pitchFamily="34" charset="-120"/>
              </a:rPr>
              <a:t>Ventas por empleado y categoría</a:t>
            </a:r>
            <a:endParaRPr lang="en-US" sz="3200" dirty="0"/>
          </a:p>
        </p:txBody>
      </p:sp>
      <p:sp>
        <p:nvSpPr>
          <p:cNvPr id="4" name="Shape 2"/>
          <p:cNvSpPr/>
          <p:nvPr/>
        </p:nvSpPr>
        <p:spPr>
          <a:xfrm>
            <a:off x="815975" y="1857276"/>
            <a:ext cx="5130800" cy="3013670"/>
          </a:xfrm>
          <a:prstGeom prst="roundRect">
            <a:avLst>
              <a:gd name="adj" fmla="val 3266"/>
            </a:avLst>
          </a:prstGeom>
          <a:solidFill>
            <a:srgbClr val="FEFEFF"/>
          </a:solidFill>
          <a:ln w="6350">
            <a:solidFill>
              <a:srgbClr val="D0DAEC"/>
            </a:solidFill>
            <a:prstDash val="solid"/>
          </a:ln>
        </p:spPr>
      </p:sp>
      <p:sp>
        <p:nvSpPr>
          <p:cNvPr id="5" name="Text 3"/>
          <p:cNvSpPr/>
          <p:nvPr/>
        </p:nvSpPr>
        <p:spPr>
          <a:xfrm>
            <a:off x="1073150" y="2089051"/>
            <a:ext cx="47549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JetBrains Mono" pitchFamily="49" charset="0"/>
                <a:ea typeface="JetBrains Mono" pitchFamily="49" charset="-122"/>
                <a:cs typeface="JetBrains Mono" pitchFamily="49" charset="-120"/>
              </a:rPr>
              <a:t>ANTES · BASE TRANSACCIONAL</a:t>
            </a:r>
            <a:endParaRPr lang="en-US" sz="1200" dirty="0"/>
          </a:p>
        </p:txBody>
      </p:sp>
      <p:sp>
        <p:nvSpPr>
          <p:cNvPr id="6" name="Text 4"/>
          <p:cNvSpPr/>
          <p:nvPr/>
        </p:nvSpPr>
        <p:spPr>
          <a:xfrm>
            <a:off x="1073150" y="2403971"/>
            <a:ext cx="47549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4A"/>
                </a:solidFill>
                <a:latin typeface="IBM Plex Sans" pitchFamily="34" charset="0"/>
                <a:ea typeface="IBM Plex Sans" pitchFamily="34" charset="-122"/>
                <a:cs typeface="IBM Plex Sans" pitchFamily="34" charset="-120"/>
              </a:rPr>
              <a:t>5 tablas, monto a mano</a:t>
            </a:r>
            <a:endParaRPr lang="en-US" sz="2000" dirty="0"/>
          </a:p>
        </p:txBody>
      </p:sp>
      <p:sp>
        <p:nvSpPr>
          <p:cNvPr id="7" name="Text 5"/>
          <p:cNvSpPr/>
          <p:nvPr/>
        </p:nvSpPr>
        <p:spPr>
          <a:xfrm>
            <a:off x="1073150" y="281037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B4660"/>
                </a:solidFill>
                <a:latin typeface="JetBrains Mono" pitchFamily="49" charset="0"/>
                <a:ea typeface="JetBrains Mono" pitchFamily="49" charset="-122"/>
                <a:cs typeface="JetBrains Mono" pitchFamily="49" charset="-120"/>
              </a:rPr>
              <a:t>SELECT e.Nombre, c.Categoria,</a:t>
            </a:r>
            <a:endParaRPr lang="en-US" sz="1200" dirty="0"/>
          </a:p>
        </p:txBody>
      </p:sp>
      <p:sp>
        <p:nvSpPr>
          <p:cNvPr id="8" name="Text 6"/>
          <p:cNvSpPr/>
          <p:nvPr/>
        </p:nvSpPr>
        <p:spPr>
          <a:xfrm>
            <a:off x="1073150" y="303897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B4660"/>
                </a:solidFill>
                <a:latin typeface="JetBrains Mono" pitchFamily="49" charset="0"/>
                <a:ea typeface="JetBrains Mono" pitchFamily="49" charset="-122"/>
                <a:cs typeface="JetBrains Mono" pitchFamily="49" charset="-120"/>
              </a:rPr>
              <a:t>  SUM(d.Cantidad * d.Precio</a:t>
            </a:r>
            <a:endParaRPr lang="en-US" sz="1200" dirty="0"/>
          </a:p>
        </p:txBody>
      </p:sp>
      <p:sp>
        <p:nvSpPr>
          <p:cNvPr id="9" name="Text 7"/>
          <p:cNvSpPr/>
          <p:nvPr/>
        </p:nvSpPr>
        <p:spPr>
          <a:xfrm>
            <a:off x="1073150" y="326757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B4660"/>
                </a:solidFill>
                <a:latin typeface="JetBrains Mono" pitchFamily="49" charset="0"/>
                <a:ea typeface="JetBrains Mono" pitchFamily="49" charset="-122"/>
                <a:cs typeface="JetBrains Mono" pitchFamily="49" charset="-120"/>
              </a:rPr>
              <a:t>    * (1 - d.Descuento))</a:t>
            </a:r>
            <a:endParaRPr lang="en-US" sz="1200" dirty="0"/>
          </a:p>
        </p:txBody>
      </p:sp>
      <p:sp>
        <p:nvSpPr>
          <p:cNvPr id="10" name="Text 8"/>
          <p:cNvSpPr/>
          <p:nvPr/>
        </p:nvSpPr>
        <p:spPr>
          <a:xfrm>
            <a:off x="1073150" y="349617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B4660"/>
                </a:solidFill>
                <a:latin typeface="JetBrains Mono" pitchFamily="49" charset="0"/>
                <a:ea typeface="JetBrains Mono" pitchFamily="49" charset="-122"/>
                <a:cs typeface="JetBrains Mono" pitchFamily="49" charset="-120"/>
              </a:rPr>
              <a:t>FROM DetalleOrden d</a:t>
            </a:r>
            <a:endParaRPr lang="en-US" sz="1200" dirty="0"/>
          </a:p>
        </p:txBody>
      </p:sp>
      <p:sp>
        <p:nvSpPr>
          <p:cNvPr id="11" name="Text 9"/>
          <p:cNvSpPr/>
          <p:nvPr/>
        </p:nvSpPr>
        <p:spPr>
          <a:xfrm>
            <a:off x="1073150" y="372477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B4660"/>
                </a:solidFill>
                <a:latin typeface="JetBrains Mono" pitchFamily="49" charset="0"/>
                <a:ea typeface="JetBrains Mono" pitchFamily="49" charset="-122"/>
                <a:cs typeface="JetBrains Mono" pitchFamily="49" charset="-120"/>
              </a:rPr>
              <a:t>JOIN Ordenes o ON …</a:t>
            </a:r>
            <a:endParaRPr lang="en-US" sz="1200" dirty="0"/>
          </a:p>
        </p:txBody>
      </p:sp>
      <p:sp>
        <p:nvSpPr>
          <p:cNvPr id="12" name="Text 10"/>
          <p:cNvSpPr/>
          <p:nvPr/>
        </p:nvSpPr>
        <p:spPr>
          <a:xfrm>
            <a:off x="1073150" y="395337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B4660"/>
                </a:solidFill>
                <a:latin typeface="JetBrains Mono" pitchFamily="49" charset="0"/>
                <a:ea typeface="JetBrains Mono" pitchFamily="49" charset="-122"/>
                <a:cs typeface="JetBrains Mono" pitchFamily="49" charset="-120"/>
              </a:rPr>
              <a:t>JOIN Empleados e ON …</a:t>
            </a:r>
            <a:endParaRPr lang="en-US" sz="1200" dirty="0"/>
          </a:p>
        </p:txBody>
      </p:sp>
      <p:sp>
        <p:nvSpPr>
          <p:cNvPr id="13" name="Text 11"/>
          <p:cNvSpPr/>
          <p:nvPr/>
        </p:nvSpPr>
        <p:spPr>
          <a:xfrm>
            <a:off x="1073150" y="418197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B4660"/>
                </a:solidFill>
                <a:latin typeface="JetBrains Mono" pitchFamily="49" charset="0"/>
                <a:ea typeface="JetBrains Mono" pitchFamily="49" charset="-122"/>
                <a:cs typeface="JetBrains Mono" pitchFamily="49" charset="-120"/>
              </a:rPr>
              <a:t>JOIN Productos p ON …</a:t>
            </a:r>
            <a:endParaRPr lang="en-US" sz="1200" dirty="0"/>
          </a:p>
        </p:txBody>
      </p:sp>
      <p:sp>
        <p:nvSpPr>
          <p:cNvPr id="14" name="Text 12"/>
          <p:cNvSpPr/>
          <p:nvPr/>
        </p:nvSpPr>
        <p:spPr>
          <a:xfrm>
            <a:off x="1073150" y="441057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B4660"/>
                </a:solidFill>
                <a:latin typeface="JetBrains Mono" pitchFamily="49" charset="0"/>
                <a:ea typeface="JetBrains Mono" pitchFamily="49" charset="-122"/>
                <a:cs typeface="JetBrains Mono" pitchFamily="49" charset="-120"/>
              </a:rPr>
              <a:t>JOIN Categorias c ON …</a:t>
            </a:r>
            <a:endParaRPr lang="en-US" sz="1200" dirty="0"/>
          </a:p>
        </p:txBody>
      </p:sp>
      <p:sp>
        <p:nvSpPr>
          <p:cNvPr id="15" name="Shape 13"/>
          <p:cNvSpPr/>
          <p:nvPr/>
        </p:nvSpPr>
        <p:spPr>
          <a:xfrm>
            <a:off x="6254750" y="1854101"/>
            <a:ext cx="5124450" cy="3020020"/>
          </a:xfrm>
          <a:prstGeom prst="roundRect">
            <a:avLst>
              <a:gd name="adj" fmla="val 3364"/>
            </a:avLst>
          </a:prstGeom>
          <a:solidFill>
            <a:srgbClr val="2459E0"/>
          </a:solidFill>
          <a:ln/>
        </p:spPr>
      </p:sp>
      <p:sp>
        <p:nvSpPr>
          <p:cNvPr id="16" name="Text 14"/>
          <p:cNvSpPr/>
          <p:nvPr/>
        </p:nvSpPr>
        <p:spPr>
          <a:xfrm>
            <a:off x="6508750" y="2082701"/>
            <a:ext cx="47549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D166"/>
                </a:solidFill>
                <a:latin typeface="JetBrains Mono" pitchFamily="49" charset="0"/>
                <a:ea typeface="JetBrains Mono" pitchFamily="49" charset="-122"/>
                <a:cs typeface="JetBrains Mono" pitchFamily="49" charset="-120"/>
              </a:rPr>
              <a:t>DESPUÉS · DATA WAREHOUSE</a:t>
            </a:r>
            <a:endParaRPr lang="en-US" sz="1200" dirty="0"/>
          </a:p>
        </p:txBody>
      </p:sp>
      <p:sp>
        <p:nvSpPr>
          <p:cNvPr id="17" name="Text 15"/>
          <p:cNvSpPr/>
          <p:nvPr/>
        </p:nvSpPr>
        <p:spPr>
          <a:xfrm>
            <a:off x="6508750" y="2397621"/>
            <a:ext cx="47549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9FF"/>
                </a:solidFill>
                <a:latin typeface="IBM Plex Sans" pitchFamily="34" charset="0"/>
                <a:ea typeface="IBM Plex Sans" pitchFamily="34" charset="-122"/>
                <a:cs typeface="IBM Plex Sans" pitchFamily="34" charset="-120"/>
              </a:rPr>
              <a:t>3 tablas, MontoNeto listo</a:t>
            </a:r>
            <a:endParaRPr lang="en-US" sz="2000" dirty="0"/>
          </a:p>
        </p:txBody>
      </p:sp>
      <p:sp>
        <p:nvSpPr>
          <p:cNvPr id="18" name="Text 16"/>
          <p:cNvSpPr/>
          <p:nvPr/>
        </p:nvSpPr>
        <p:spPr>
          <a:xfrm>
            <a:off x="6508750" y="280402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7F9FF"/>
                </a:solidFill>
                <a:latin typeface="JetBrains Mono" pitchFamily="49" charset="0"/>
                <a:ea typeface="JetBrains Mono" pitchFamily="49" charset="-122"/>
                <a:cs typeface="JetBrains Mono" pitchFamily="49" charset="-120"/>
              </a:rPr>
              <a:t>SELECT e.NombreEmpleado, p.Categoria,</a:t>
            </a:r>
            <a:endParaRPr lang="en-US" sz="1200" dirty="0"/>
          </a:p>
        </p:txBody>
      </p:sp>
      <p:sp>
        <p:nvSpPr>
          <p:cNvPr id="19" name="Text 17"/>
          <p:cNvSpPr/>
          <p:nvPr/>
        </p:nvSpPr>
        <p:spPr>
          <a:xfrm>
            <a:off x="6508750" y="303262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7F9FF"/>
                </a:solidFill>
                <a:latin typeface="JetBrains Mono" pitchFamily="49" charset="0"/>
                <a:ea typeface="JetBrains Mono" pitchFamily="49" charset="-122"/>
                <a:cs typeface="JetBrains Mono" pitchFamily="49" charset="-120"/>
              </a:rPr>
              <a:t>  SUM(f.MontoNeto)</a:t>
            </a:r>
            <a:endParaRPr lang="en-US" sz="1200" dirty="0"/>
          </a:p>
        </p:txBody>
      </p:sp>
      <p:sp>
        <p:nvSpPr>
          <p:cNvPr id="20" name="Text 18"/>
          <p:cNvSpPr/>
          <p:nvPr/>
        </p:nvSpPr>
        <p:spPr>
          <a:xfrm>
            <a:off x="6508750" y="326122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7F9FF"/>
                </a:solidFill>
                <a:latin typeface="JetBrains Mono" pitchFamily="49" charset="0"/>
                <a:ea typeface="JetBrains Mono" pitchFamily="49" charset="-122"/>
                <a:cs typeface="JetBrains Mono" pitchFamily="49" charset="-120"/>
              </a:rPr>
              <a:t>FROM Fact_Detalle_Venta f</a:t>
            </a:r>
            <a:endParaRPr lang="en-US" sz="1200" dirty="0"/>
          </a:p>
        </p:txBody>
      </p:sp>
      <p:sp>
        <p:nvSpPr>
          <p:cNvPr id="21" name="Text 19"/>
          <p:cNvSpPr/>
          <p:nvPr/>
        </p:nvSpPr>
        <p:spPr>
          <a:xfrm>
            <a:off x="6508750" y="348982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7F9FF"/>
                </a:solidFill>
                <a:latin typeface="JetBrains Mono" pitchFamily="49" charset="0"/>
                <a:ea typeface="JetBrains Mono" pitchFamily="49" charset="-122"/>
                <a:cs typeface="JetBrains Mono" pitchFamily="49" charset="-120"/>
              </a:rPr>
              <a:t>JOIN Dim_Empleado e ON …</a:t>
            </a:r>
            <a:endParaRPr lang="en-US" sz="1200" dirty="0"/>
          </a:p>
        </p:txBody>
      </p:sp>
      <p:sp>
        <p:nvSpPr>
          <p:cNvPr id="22" name="Text 20"/>
          <p:cNvSpPr/>
          <p:nvPr/>
        </p:nvSpPr>
        <p:spPr>
          <a:xfrm>
            <a:off x="6508750" y="3718421"/>
            <a:ext cx="4754944"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7F9FF"/>
                </a:solidFill>
                <a:latin typeface="JetBrains Mono" pitchFamily="49" charset="0"/>
                <a:ea typeface="JetBrains Mono" pitchFamily="49" charset="-122"/>
                <a:cs typeface="JetBrains Mono" pitchFamily="49" charset="-120"/>
              </a:rPr>
              <a:t>JOIN Dim_Producto p ON …</a:t>
            </a:r>
            <a:endParaRPr lang="en-US" sz="1200" dirty="0"/>
          </a:p>
        </p:txBody>
      </p:sp>
      <p:sp>
        <p:nvSpPr>
          <p:cNvPr id="23" name="Text 21"/>
          <p:cNvSpPr/>
          <p:nvPr/>
        </p:nvSpPr>
        <p:spPr>
          <a:xfrm>
            <a:off x="812800" y="6236990"/>
            <a:ext cx="19303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85"/>
                </a:solidFill>
                <a:latin typeface="IBM Plex Sans" pitchFamily="34" charset="0"/>
                <a:ea typeface="IBM Plex Sans" pitchFamily="34" charset="-122"/>
                <a:cs typeface="IBM Plex Sans" pitchFamily="34" charset="-120"/>
              </a:rPr>
              <a:t>Kent Foods DW · Fase 1</a:t>
            </a:r>
            <a:endParaRPr lang="en-US" sz="1200" dirty="0"/>
          </a:p>
        </p:txBody>
      </p:sp>
      <p:sp>
        <p:nvSpPr>
          <p:cNvPr id="24" name="Text 22"/>
          <p:cNvSpPr/>
          <p:nvPr/>
        </p:nvSpPr>
        <p:spPr>
          <a:xfrm>
            <a:off x="11145441" y="623699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85"/>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theme/theme1.xml><?xml version="1.0" encoding="utf-8"?>
<a:theme xmlns:a="http://schemas.openxmlformats.org/drawingml/2006/main" name="Kent Foods DW – Fase 1">
  <a:themeElements>
    <a:clrScheme name="Kent Foods DW – Fase 1">
      <a:dk1>
        <a:srgbClr val="1B2A4A"/>
      </a:dk1>
      <a:lt1>
        <a:srgbClr val="F8FAFE"/>
      </a:lt1>
      <a:dk2>
        <a:srgbClr val="525E77"/>
      </a:dk2>
      <a:lt2>
        <a:srgbClr val="E2E5EC"/>
      </a:lt2>
      <a:accent1>
        <a:srgbClr val="2459E0"/>
      </a:accent1>
      <a:accent2>
        <a:srgbClr val="FFD166"/>
      </a:accent2>
      <a:accent3>
        <a:srgbClr val="D6E2FF"/>
      </a:accent3>
      <a:accent4>
        <a:srgbClr val="0A7D63"/>
      </a:accent4>
      <a:accent5>
        <a:srgbClr val="3A6CF0"/>
      </a:accent5>
      <a:accent6>
        <a:srgbClr val="BFD1FF"/>
      </a:accent6>
      <a:hlink>
        <a:srgbClr val="0563C1"/>
      </a:hlink>
      <a:folHlink>
        <a:srgbClr val="954F72"/>
      </a:folHlink>
    </a:clrScheme>
    <a:fontScheme name="Kent Foods DW – Fase 1">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Kent Foods DW – Fase 1</dc:title>
  <dc:subject/>
  <dc:creator/>
  <cp:lastModifiedBy/>
  <cp:revision>1</cp:revision>
  <dcterms:created xsi:type="dcterms:W3CDTF">2026-10-15T23:49:08Z</dcterms:created>
  <dcterms:modified xsi:type="dcterms:W3CDTF">2026-10-15T23:49:08Z</dcterms:modified>
</cp:coreProperties>
</file>